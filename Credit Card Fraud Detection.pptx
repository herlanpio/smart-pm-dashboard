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83" r:id="rId4"/>
    <p:sldId id="259" r:id="rId5"/>
    <p:sldId id="289" r:id="rId6"/>
    <p:sldId id="258" r:id="rId7"/>
    <p:sldId id="272" r:id="rId8"/>
    <p:sldId id="284" r:id="rId9"/>
    <p:sldId id="285" r:id="rId10"/>
    <p:sldId id="286" r:id="rId11"/>
    <p:sldId id="290" r:id="rId12"/>
    <p:sldId id="261" r:id="rId13"/>
    <p:sldId id="263" r:id="rId14"/>
    <p:sldId id="267" r:id="rId15"/>
    <p:sldId id="268" r:id="rId16"/>
    <p:sldId id="275" r:id="rId17"/>
    <p:sldId id="278" r:id="rId18"/>
    <p:sldId id="279" r:id="rId19"/>
    <p:sldId id="280" r:id="rId20"/>
    <p:sldId id="281" r:id="rId21"/>
    <p:sldId id="282" r:id="rId22"/>
    <p:sldId id="287" r:id="rId23"/>
    <p:sldId id="288" r:id="rId24"/>
    <p:sldId id="291"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5DF69C6C-C842-467E-967F-7792FAFA36D0}">
          <p14:sldIdLst>
            <p14:sldId id="256"/>
            <p14:sldId id="257"/>
            <p14:sldId id="283"/>
            <p14:sldId id="259"/>
            <p14:sldId id="289"/>
            <p14:sldId id="258"/>
            <p14:sldId id="272"/>
            <p14:sldId id="284"/>
            <p14:sldId id="285"/>
            <p14:sldId id="286"/>
            <p14:sldId id="290"/>
            <p14:sldId id="261"/>
            <p14:sldId id="263"/>
            <p14:sldId id="267"/>
            <p14:sldId id="268"/>
            <p14:sldId id="275"/>
            <p14:sldId id="278"/>
            <p14:sldId id="279"/>
            <p14:sldId id="280"/>
            <p14:sldId id="281"/>
            <p14:sldId id="282"/>
            <p14:sldId id="287"/>
            <p14:sldId id="288"/>
            <p14:sldId id="29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01513"/>
    <a:srgbClr val="38716A"/>
    <a:srgbClr val="3A746C"/>
    <a:srgbClr val="65A4A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5" d="100"/>
          <a:sy n="75" d="100"/>
        </p:scale>
        <p:origin x="540"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16715BB-A073-40C0-8968-0316330F75B2}" type="datetimeFigureOut">
              <a:rPr lang="en-US" smtClean="0"/>
              <a:t>7/8/2023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85C457-B90E-496B-B881-442479F38D7B}" type="slidenum">
              <a:rPr lang="en-US" smtClean="0"/>
              <a:t>‹#›</a:t>
            </a:fld>
            <a:endParaRPr lang="en-US"/>
          </a:p>
        </p:txBody>
      </p:sp>
    </p:spTree>
    <p:extLst>
      <p:ext uri="{BB962C8B-B14F-4D97-AF65-F5344CB8AC3E}">
        <p14:creationId xmlns:p14="http://schemas.microsoft.com/office/powerpoint/2010/main" val="31776571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116715BB-A073-40C0-8968-0316330F75B2}" type="datetimeFigureOut">
              <a:rPr lang="en-US" smtClean="0"/>
              <a:t>7/8/2023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85C457-B90E-496B-B881-442479F38D7B}" type="slidenum">
              <a:rPr lang="en-US" smtClean="0"/>
              <a:t>‹#›</a:t>
            </a:fld>
            <a:endParaRPr lang="en-US"/>
          </a:p>
        </p:txBody>
      </p:sp>
    </p:spTree>
    <p:extLst>
      <p:ext uri="{BB962C8B-B14F-4D97-AF65-F5344CB8AC3E}">
        <p14:creationId xmlns:p14="http://schemas.microsoft.com/office/powerpoint/2010/main" val="9953432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16715BB-A073-40C0-8968-0316330F75B2}" type="datetimeFigureOut">
              <a:rPr lang="en-US" smtClean="0"/>
              <a:t>7/8/2023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85C457-B90E-496B-B881-442479F38D7B}" type="slidenum">
              <a:rPr lang="en-US" smtClean="0"/>
              <a:t>‹#›</a:t>
            </a:fld>
            <a:endParaRPr lang="en-US"/>
          </a:p>
        </p:txBody>
      </p:sp>
    </p:spTree>
    <p:extLst>
      <p:ext uri="{BB962C8B-B14F-4D97-AF65-F5344CB8AC3E}">
        <p14:creationId xmlns:p14="http://schemas.microsoft.com/office/powerpoint/2010/main" val="23969493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16715BB-A073-40C0-8968-0316330F75B2}" type="datetimeFigureOut">
              <a:rPr lang="en-US" smtClean="0"/>
              <a:t>7/8/2023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85C457-B90E-496B-B881-442479F38D7B}" type="slidenum">
              <a:rPr lang="en-US" smtClean="0"/>
              <a:t>‹#›</a:t>
            </a:fld>
            <a:endParaRPr lang="en-US"/>
          </a:p>
        </p:txBody>
      </p:sp>
    </p:spTree>
    <p:extLst>
      <p:ext uri="{BB962C8B-B14F-4D97-AF65-F5344CB8AC3E}">
        <p14:creationId xmlns:p14="http://schemas.microsoft.com/office/powerpoint/2010/main" val="34424544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16715BB-A073-40C0-8968-0316330F75B2}" type="datetimeFigureOut">
              <a:rPr lang="en-US" smtClean="0"/>
              <a:t>7/8/2023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485C457-B90E-496B-B881-442479F38D7B}" type="slidenum">
              <a:rPr lang="en-US" smtClean="0"/>
              <a:t>‹#›</a:t>
            </a:fld>
            <a:endParaRPr lang="en-US"/>
          </a:p>
        </p:txBody>
      </p:sp>
    </p:spTree>
    <p:extLst>
      <p:ext uri="{BB962C8B-B14F-4D97-AF65-F5344CB8AC3E}">
        <p14:creationId xmlns:p14="http://schemas.microsoft.com/office/powerpoint/2010/main" val="9324973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116715BB-A073-40C0-8968-0316330F75B2}" type="datetimeFigureOut">
              <a:rPr lang="en-US" smtClean="0"/>
              <a:t>7/8/2023</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E485C457-B90E-496B-B881-442479F38D7B}" type="slidenum">
              <a:rPr lang="en-US" smtClean="0"/>
              <a:t>‹#›</a:t>
            </a:fld>
            <a:endParaRPr lang="en-US"/>
          </a:p>
        </p:txBody>
      </p:sp>
    </p:spTree>
    <p:extLst>
      <p:ext uri="{BB962C8B-B14F-4D97-AF65-F5344CB8AC3E}">
        <p14:creationId xmlns:p14="http://schemas.microsoft.com/office/powerpoint/2010/main" val="2780076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116715BB-A073-40C0-8968-0316330F75B2}" type="datetimeFigureOut">
              <a:rPr lang="en-US" smtClean="0"/>
              <a:t>7/8/2023</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E485C457-B90E-496B-B881-442479F38D7B}" type="slidenum">
              <a:rPr lang="en-US" smtClean="0"/>
              <a:t>‹#›</a:t>
            </a:fld>
            <a:endParaRPr lang="en-US"/>
          </a:p>
        </p:txBody>
      </p:sp>
    </p:spTree>
    <p:extLst>
      <p:ext uri="{BB962C8B-B14F-4D97-AF65-F5344CB8AC3E}">
        <p14:creationId xmlns:p14="http://schemas.microsoft.com/office/powerpoint/2010/main" val="20778303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116715BB-A073-40C0-8968-0316330F75B2}" type="datetimeFigureOut">
              <a:rPr lang="en-US" smtClean="0"/>
              <a:t>7/8/2023</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E485C457-B90E-496B-B881-442479F38D7B}" type="slidenum">
              <a:rPr lang="en-US" smtClean="0"/>
              <a:t>‹#›</a:t>
            </a:fld>
            <a:endParaRPr lang="en-US"/>
          </a:p>
        </p:txBody>
      </p:sp>
    </p:spTree>
    <p:extLst>
      <p:ext uri="{BB962C8B-B14F-4D97-AF65-F5344CB8AC3E}">
        <p14:creationId xmlns:p14="http://schemas.microsoft.com/office/powerpoint/2010/main" val="24260120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16715BB-A073-40C0-8968-0316330F75B2}" type="datetimeFigureOut">
              <a:rPr lang="en-US" smtClean="0"/>
              <a:t>7/8/2023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85C457-B90E-496B-B881-442479F38D7B}" type="slidenum">
              <a:rPr lang="en-US" smtClean="0"/>
              <a:t>‹#›</a:t>
            </a:fld>
            <a:endParaRPr lang="en-US"/>
          </a:p>
        </p:txBody>
      </p:sp>
    </p:spTree>
    <p:extLst>
      <p:ext uri="{BB962C8B-B14F-4D97-AF65-F5344CB8AC3E}">
        <p14:creationId xmlns:p14="http://schemas.microsoft.com/office/powerpoint/2010/main" val="28359974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16715BB-A073-40C0-8968-0316330F75B2}" type="datetimeFigureOut">
              <a:rPr lang="en-US" smtClean="0"/>
              <a:t>7/8/2023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85C457-B90E-496B-B881-442479F38D7B}" type="slidenum">
              <a:rPr lang="en-US" smtClean="0"/>
              <a:t>‹#›</a:t>
            </a:fld>
            <a:endParaRPr lang="en-US"/>
          </a:p>
        </p:txBody>
      </p:sp>
    </p:spTree>
    <p:extLst>
      <p:ext uri="{BB962C8B-B14F-4D97-AF65-F5344CB8AC3E}">
        <p14:creationId xmlns:p14="http://schemas.microsoft.com/office/powerpoint/2010/main" val="27461679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16715BB-A073-40C0-8968-0316330F75B2}" type="datetimeFigureOut">
              <a:rPr lang="en-US" smtClean="0"/>
              <a:t>7/8/2023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85C457-B90E-496B-B881-442479F38D7B}" type="slidenum">
              <a:rPr lang="en-US" smtClean="0"/>
              <a:t>‹#›</a:t>
            </a:fld>
            <a:endParaRPr lang="en-US"/>
          </a:p>
        </p:txBody>
      </p:sp>
    </p:spTree>
    <p:extLst>
      <p:ext uri="{BB962C8B-B14F-4D97-AF65-F5344CB8AC3E}">
        <p14:creationId xmlns:p14="http://schemas.microsoft.com/office/powerpoint/2010/main" val="27575044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16715BB-A073-40C0-8968-0316330F75B2}" type="datetimeFigureOut">
              <a:rPr lang="en-US" smtClean="0"/>
              <a:t>7/8/2023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85C457-B90E-496B-B881-442479F38D7B}"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40777129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16715BB-A073-40C0-8968-0316330F75B2}" type="datetimeFigureOut">
              <a:rPr lang="en-US" smtClean="0"/>
              <a:t>7/8/2023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85C457-B90E-496B-B881-442479F38D7B}" type="slidenum">
              <a:rPr lang="en-US" smtClean="0"/>
              <a:t>‹#›</a:t>
            </a:fld>
            <a:endParaRPr lang="en-US"/>
          </a:p>
        </p:txBody>
      </p:sp>
    </p:spTree>
    <p:extLst>
      <p:ext uri="{BB962C8B-B14F-4D97-AF65-F5344CB8AC3E}">
        <p14:creationId xmlns:p14="http://schemas.microsoft.com/office/powerpoint/2010/main" val="2673096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116715BB-A073-40C0-8968-0316330F75B2}" type="datetimeFigureOut">
              <a:rPr lang="en-US" smtClean="0"/>
              <a:t>7/8/2023</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85C457-B90E-496B-B881-442479F38D7B}" type="slidenum">
              <a:rPr lang="en-US" smtClean="0"/>
              <a:t>‹#›</a:t>
            </a:fld>
            <a:endParaRPr lang="en-US"/>
          </a:p>
        </p:txBody>
      </p:sp>
    </p:spTree>
    <p:extLst>
      <p:ext uri="{BB962C8B-B14F-4D97-AF65-F5344CB8AC3E}">
        <p14:creationId xmlns:p14="http://schemas.microsoft.com/office/powerpoint/2010/main" val="35776269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116715BB-A073-40C0-8968-0316330F75B2}" type="datetimeFigureOut">
              <a:rPr lang="en-US" smtClean="0"/>
              <a:t>7/8/2023</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85C457-B90E-496B-B881-442479F38D7B}" type="slidenum">
              <a:rPr lang="en-US" smtClean="0"/>
              <a:t>‹#›</a:t>
            </a:fld>
            <a:endParaRPr lang="en-US"/>
          </a:p>
        </p:txBody>
      </p:sp>
    </p:spTree>
    <p:extLst>
      <p:ext uri="{BB962C8B-B14F-4D97-AF65-F5344CB8AC3E}">
        <p14:creationId xmlns:p14="http://schemas.microsoft.com/office/powerpoint/2010/main" val="118625255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6715BB-A073-40C0-8968-0316330F75B2}" type="datetimeFigureOut">
              <a:rPr lang="en-US" smtClean="0"/>
              <a:t>7/8/2023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85C457-B90E-496B-B881-442479F38D7B}" type="slidenum">
              <a:rPr lang="en-US" smtClean="0"/>
              <a:t>‹#›</a:t>
            </a:fld>
            <a:endParaRPr lang="en-US"/>
          </a:p>
        </p:txBody>
      </p:sp>
    </p:spTree>
    <p:extLst>
      <p:ext uri="{BB962C8B-B14F-4D97-AF65-F5344CB8AC3E}">
        <p14:creationId xmlns:p14="http://schemas.microsoft.com/office/powerpoint/2010/main" val="38119020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6715BB-A073-40C0-8968-0316330F75B2}" type="datetimeFigureOut">
              <a:rPr lang="en-US" smtClean="0"/>
              <a:t>7/8/2023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85C457-B90E-496B-B881-442479F38D7B}" type="slidenum">
              <a:rPr lang="en-US" smtClean="0"/>
              <a:t>‹#›</a:t>
            </a:fld>
            <a:endParaRPr lang="en-US"/>
          </a:p>
        </p:txBody>
      </p:sp>
    </p:spTree>
    <p:extLst>
      <p:ext uri="{BB962C8B-B14F-4D97-AF65-F5344CB8AC3E}">
        <p14:creationId xmlns:p14="http://schemas.microsoft.com/office/powerpoint/2010/main" val="33715822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116715BB-A073-40C0-8968-0316330F75B2}" type="datetimeFigureOut">
              <a:rPr lang="en-US" smtClean="0"/>
              <a:t>7/8/2023</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E485C457-B90E-496B-B881-442479F38D7B}" type="slidenum">
              <a:rPr lang="en-US" smtClean="0"/>
              <a:t>‹#›</a:t>
            </a:fld>
            <a:endParaRPr lang="en-US"/>
          </a:p>
        </p:txBody>
      </p:sp>
    </p:spTree>
    <p:extLst>
      <p:ext uri="{BB962C8B-B14F-4D97-AF65-F5344CB8AC3E}">
        <p14:creationId xmlns:p14="http://schemas.microsoft.com/office/powerpoint/2010/main" val="2469312703"/>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3E9AB7-D39E-429B-8B9F-B26AF937B53F}"/>
              </a:ext>
            </a:extLst>
          </p:cNvPr>
          <p:cNvSpPr>
            <a:spLocks noGrp="1"/>
          </p:cNvSpPr>
          <p:nvPr>
            <p:ph type="title"/>
          </p:nvPr>
        </p:nvSpPr>
        <p:spPr>
          <a:xfrm>
            <a:off x="1154956" y="1365685"/>
            <a:ext cx="8825657" cy="2217107"/>
          </a:xfrm>
        </p:spPr>
        <p:txBody>
          <a:bodyPr>
            <a:normAutofit fontScale="90000"/>
          </a:bodyPr>
          <a:lstStyle/>
          <a:p>
            <a:pPr algn="ctr"/>
            <a:r>
              <a:rPr lang="en-US" sz="6000" b="1" dirty="0">
                <a:solidFill>
                  <a:srgbClr val="B01513"/>
                </a:solidFill>
                <a:latin typeface="Times New Roman" panose="02020603050405020304" pitchFamily="18" charset="0"/>
                <a:ea typeface="Tahoma" panose="020B0604030504040204" pitchFamily="34" charset="0"/>
                <a:cs typeface="Times New Roman" panose="02020603050405020304" pitchFamily="18" charset="0"/>
              </a:rPr>
              <a:t>CREDIT CARD FRAUD DETECTION using MACHINE LEARNING</a:t>
            </a:r>
          </a:p>
        </p:txBody>
      </p:sp>
      <p:sp>
        <p:nvSpPr>
          <p:cNvPr id="3" name="Text Placeholder 2">
            <a:extLst>
              <a:ext uri="{FF2B5EF4-FFF2-40B4-BE49-F238E27FC236}">
                <a16:creationId xmlns:a16="http://schemas.microsoft.com/office/drawing/2014/main" id="{9D502723-8909-C3D6-1A33-3AB99EBDBA40}"/>
              </a:ext>
            </a:extLst>
          </p:cNvPr>
          <p:cNvSpPr>
            <a:spLocks noGrp="1"/>
          </p:cNvSpPr>
          <p:nvPr>
            <p:ph type="body" idx="1"/>
          </p:nvPr>
        </p:nvSpPr>
        <p:spPr>
          <a:xfrm>
            <a:off x="7227518" y="4777380"/>
            <a:ext cx="4797468" cy="1686049"/>
          </a:xfrm>
        </p:spPr>
        <p:txBody>
          <a:bodyPr>
            <a:normAutofit lnSpcReduction="10000"/>
          </a:bodyPr>
          <a:lstStyle/>
          <a:p>
            <a:r>
              <a:rPr lang="en-US" dirty="0"/>
              <a:t>By</a:t>
            </a:r>
          </a:p>
          <a:p>
            <a:r>
              <a:rPr lang="en-US" dirty="0"/>
              <a:t>   CHELLAPPA HERLAN PIO r</a:t>
            </a:r>
          </a:p>
          <a:p>
            <a:r>
              <a:rPr lang="en-US" dirty="0"/>
              <a:t>   B.SC COMPUTER SCIENCE</a:t>
            </a:r>
          </a:p>
          <a:p>
            <a:r>
              <a:rPr lang="en-US" dirty="0"/>
              <a:t>   </a:t>
            </a:r>
          </a:p>
          <a:p>
            <a:endParaRPr lang="en-IN" dirty="0"/>
          </a:p>
        </p:txBody>
      </p:sp>
    </p:spTree>
    <p:extLst>
      <p:ext uri="{BB962C8B-B14F-4D97-AF65-F5344CB8AC3E}">
        <p14:creationId xmlns:p14="http://schemas.microsoft.com/office/powerpoint/2010/main" val="103007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7D2DE-2ED7-4879-B19E-1C2A4C1575A1}"/>
              </a:ext>
            </a:extLst>
          </p:cNvPr>
          <p:cNvSpPr>
            <a:spLocks noGrp="1"/>
          </p:cNvSpPr>
          <p:nvPr>
            <p:ph type="title"/>
          </p:nvPr>
        </p:nvSpPr>
        <p:spPr>
          <a:xfrm>
            <a:off x="646111" y="609602"/>
            <a:ext cx="2948859" cy="630476"/>
          </a:xfrm>
        </p:spPr>
        <p:txBody>
          <a:bodyPr>
            <a:normAutofit fontScale="90000"/>
          </a:bodyPr>
          <a:lstStyle/>
          <a:p>
            <a:pPr algn="ctr"/>
            <a:r>
              <a:rPr lang="en-US" b="1" u="sng" dirty="0">
                <a:solidFill>
                  <a:srgbClr val="B01513"/>
                </a:solidFill>
                <a:latin typeface="Times New Roman" panose="02020603050405020304" pitchFamily="18" charset="0"/>
                <a:ea typeface="Tahoma" panose="020B0604030504040204" pitchFamily="34" charset="0"/>
                <a:cs typeface="Times New Roman" panose="02020603050405020304" pitchFamily="18" charset="0"/>
              </a:rPr>
              <a:t>ABSTRACT</a:t>
            </a:r>
          </a:p>
        </p:txBody>
      </p:sp>
      <p:sp>
        <p:nvSpPr>
          <p:cNvPr id="3" name="Content Placeholder 2">
            <a:extLst>
              <a:ext uri="{FF2B5EF4-FFF2-40B4-BE49-F238E27FC236}">
                <a16:creationId xmlns:a16="http://schemas.microsoft.com/office/drawing/2014/main" id="{411ED9C4-5116-4AC8-9EDB-90E502B77D41}"/>
              </a:ext>
            </a:extLst>
          </p:cNvPr>
          <p:cNvSpPr>
            <a:spLocks noGrp="1"/>
          </p:cNvSpPr>
          <p:nvPr>
            <p:ph idx="1"/>
          </p:nvPr>
        </p:nvSpPr>
        <p:spPr/>
        <p:txBody>
          <a:bodyPr>
            <a:normAutofit/>
          </a:bodyPr>
          <a:lstStyle/>
          <a:p>
            <a:r>
              <a:rPr lang="en-US" dirty="0"/>
              <a:t>Increase in credit card usage for online payments</a:t>
            </a:r>
          </a:p>
          <a:p>
            <a:r>
              <a:rPr lang="en-US" dirty="0"/>
              <a:t>cases of fraud associated with it are also rising.</a:t>
            </a:r>
          </a:p>
          <a:p>
            <a:r>
              <a:rPr lang="en-US" dirty="0"/>
              <a:t>Few steps involving credit card transaction process using a Hidden Markov Model (HMM)</a:t>
            </a:r>
          </a:p>
          <a:p>
            <a:r>
              <a:rPr lang="en-US" dirty="0"/>
              <a:t>how it can be used for the detection of frauds.</a:t>
            </a:r>
          </a:p>
          <a:p>
            <a:r>
              <a:rPr lang="en-US" dirty="0"/>
              <a:t> An HMM is initially trained for a  cardholder. </a:t>
            </a:r>
          </a:p>
          <a:p>
            <a:r>
              <a:rPr lang="en-US" dirty="0"/>
              <a:t>If a credit card transaction is not accepted by the trained HMM. It is considered to be fraudulent. </a:t>
            </a:r>
          </a:p>
          <a:p>
            <a:endParaRPr lang="en-US" dirty="0"/>
          </a:p>
        </p:txBody>
      </p:sp>
    </p:spTree>
    <p:extLst>
      <p:ext uri="{BB962C8B-B14F-4D97-AF65-F5344CB8AC3E}">
        <p14:creationId xmlns:p14="http://schemas.microsoft.com/office/powerpoint/2010/main" val="1033505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 calcmode="lin" valueType="num">
                                      <p:cBhvr additive="base">
                                        <p:cTn id="14"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 calcmode="lin" valueType="num">
                                      <p:cBhvr additive="base">
                                        <p:cTn id="20"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3">
                                            <p:txEl>
                                              <p:pRg st="2" end="2"/>
                                            </p:txEl>
                                          </p:spTgt>
                                        </p:tgtEl>
                                        <p:attrNameLst>
                                          <p:attrName>style.visibility</p:attrName>
                                        </p:attrNameLst>
                                      </p:cBhvr>
                                      <p:to>
                                        <p:strVal val="visible"/>
                                      </p:to>
                                    </p:set>
                                    <p:anim calcmode="lin" valueType="num">
                                      <p:cBhvr additive="base">
                                        <p:cTn id="26"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3">
                                            <p:txEl>
                                              <p:pRg st="3" end="3"/>
                                            </p:txEl>
                                          </p:spTgt>
                                        </p:tgtEl>
                                        <p:attrNameLst>
                                          <p:attrName>style.visibility</p:attrName>
                                        </p:attrNameLst>
                                      </p:cBhvr>
                                      <p:to>
                                        <p:strVal val="visible"/>
                                      </p:to>
                                    </p:set>
                                    <p:anim calcmode="lin" valueType="num">
                                      <p:cBhvr additive="base">
                                        <p:cTn id="32"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grpId="0" nodeType="clickEffect">
                                  <p:stCondLst>
                                    <p:cond delay="0"/>
                                  </p:stCondLst>
                                  <p:childTnLst>
                                    <p:set>
                                      <p:cBhvr>
                                        <p:cTn id="37" dur="1" fill="hold">
                                          <p:stCondLst>
                                            <p:cond delay="0"/>
                                          </p:stCondLst>
                                        </p:cTn>
                                        <p:tgtEl>
                                          <p:spTgt spid="3">
                                            <p:txEl>
                                              <p:pRg st="4" end="4"/>
                                            </p:txEl>
                                          </p:spTgt>
                                        </p:tgtEl>
                                        <p:attrNameLst>
                                          <p:attrName>style.visibility</p:attrName>
                                        </p:attrNameLst>
                                      </p:cBhvr>
                                      <p:to>
                                        <p:strVal val="visible"/>
                                      </p:to>
                                    </p:set>
                                    <p:anim calcmode="lin" valueType="num">
                                      <p:cBhvr additive="base">
                                        <p:cTn id="38"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grpId="0" nodeType="clickEffect">
                                  <p:stCondLst>
                                    <p:cond delay="0"/>
                                  </p:stCondLst>
                                  <p:childTnLst>
                                    <p:set>
                                      <p:cBhvr>
                                        <p:cTn id="43" dur="1" fill="hold">
                                          <p:stCondLst>
                                            <p:cond delay="0"/>
                                          </p:stCondLst>
                                        </p:cTn>
                                        <p:tgtEl>
                                          <p:spTgt spid="3">
                                            <p:txEl>
                                              <p:pRg st="5" end="5"/>
                                            </p:txEl>
                                          </p:spTgt>
                                        </p:tgtEl>
                                        <p:attrNameLst>
                                          <p:attrName>style.visibility</p:attrName>
                                        </p:attrNameLst>
                                      </p:cBhvr>
                                      <p:to>
                                        <p:strVal val="visible"/>
                                      </p:to>
                                    </p:set>
                                    <p:anim calcmode="lin" valueType="num">
                                      <p:cBhvr additive="base">
                                        <p:cTn id="44"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5"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5497DE-DEAB-D3A7-2675-A1D7BBBCF9ED}"/>
              </a:ext>
            </a:extLst>
          </p:cNvPr>
          <p:cNvSpPr>
            <a:spLocks noGrp="1"/>
          </p:cNvSpPr>
          <p:nvPr>
            <p:ph type="title"/>
          </p:nvPr>
        </p:nvSpPr>
        <p:spPr>
          <a:xfrm>
            <a:off x="817124" y="427666"/>
            <a:ext cx="9311532" cy="860516"/>
          </a:xfrm>
        </p:spPr>
        <p:txBody>
          <a:bodyPr/>
          <a:lstStyle/>
          <a:p>
            <a:r>
              <a:rPr lang="en-US" b="1" u="sng" dirty="0">
                <a:solidFill>
                  <a:srgbClr val="B01513"/>
                </a:solidFill>
                <a:latin typeface="Times New Roman" panose="02020603050405020304" pitchFamily="18" charset="0"/>
                <a:cs typeface="Times New Roman" panose="02020603050405020304" pitchFamily="18" charset="0"/>
              </a:rPr>
              <a:t>ABSTRACT</a:t>
            </a:r>
          </a:p>
        </p:txBody>
      </p:sp>
      <p:sp>
        <p:nvSpPr>
          <p:cNvPr id="3" name="Content Placeholder 2">
            <a:extLst>
              <a:ext uri="{FF2B5EF4-FFF2-40B4-BE49-F238E27FC236}">
                <a16:creationId xmlns:a16="http://schemas.microsoft.com/office/drawing/2014/main" id="{CA15EC16-BE56-143C-8EBE-914BA7D75311}"/>
              </a:ext>
            </a:extLst>
          </p:cNvPr>
          <p:cNvSpPr>
            <a:spLocks noGrp="1"/>
          </p:cNvSpPr>
          <p:nvPr>
            <p:ph idx="1"/>
          </p:nvPr>
        </p:nvSpPr>
        <p:spPr>
          <a:xfrm>
            <a:off x="817124" y="1400784"/>
            <a:ext cx="9232730" cy="4847616"/>
          </a:xfrm>
        </p:spPr>
        <p:txBody>
          <a:bodyPr/>
          <a:lstStyle/>
          <a:p>
            <a:r>
              <a:rPr lang="en-US" dirty="0"/>
              <a:t>People can use credit cards for online transactions as it provides an efficient and easy-to-use facility. </a:t>
            </a:r>
          </a:p>
          <a:p>
            <a:r>
              <a:rPr lang="en-US" dirty="0"/>
              <a:t>With the increase in usage of credit cards, the capacity of credit card misuse has also enhanced.</a:t>
            </a:r>
          </a:p>
          <a:p>
            <a:r>
              <a:rPr lang="en-US" dirty="0"/>
              <a:t> Credit card frauds cause significant financial losses for both credit card holders and financial companies.</a:t>
            </a:r>
          </a:p>
          <a:p>
            <a:r>
              <a:rPr lang="en-US" dirty="0"/>
              <a:t> In this Project, the main aim is to detect such frauds, including the accessibility of public data, high-class imbalance data, the changes in fraud nature, and high rates of false alarm.</a:t>
            </a:r>
          </a:p>
          <a:p>
            <a:r>
              <a:rPr lang="en-US" dirty="0"/>
              <a:t>The main focus has been to apply the recent development of Machine Learning algorithms for this purpose. </a:t>
            </a:r>
          </a:p>
          <a:p>
            <a:r>
              <a:rPr lang="en-US" dirty="0"/>
              <a:t>We have created 5 Algorithms to detection the Credit card Fraud and evaluated results Based on that.</a:t>
            </a:r>
          </a:p>
        </p:txBody>
      </p:sp>
    </p:spTree>
    <p:extLst>
      <p:ext uri="{BB962C8B-B14F-4D97-AF65-F5344CB8AC3E}">
        <p14:creationId xmlns:p14="http://schemas.microsoft.com/office/powerpoint/2010/main" val="2407554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6" presetClass="emph" presetSubtype="0" fill="hold" nodeType="clickEffect">
                                  <p:stCondLst>
                                    <p:cond delay="0"/>
                                  </p:stCondLst>
                                  <p:childTnLst>
                                    <p:animEffect transition="out" filter="fade">
                                      <p:cBhvr>
                                        <p:cTn id="11" dur="500" tmFilter="0, 0; .2, .5; .8, .5; 1, 0"/>
                                        <p:tgtEl>
                                          <p:spTgt spid="3">
                                            <p:txEl>
                                              <p:pRg st="0" end="0"/>
                                            </p:txEl>
                                          </p:spTgt>
                                        </p:tgtEl>
                                      </p:cBhvr>
                                    </p:animEffect>
                                    <p:animScale>
                                      <p:cBhvr>
                                        <p:cTn id="12" dur="250" autoRev="1" fill="hold"/>
                                        <p:tgtEl>
                                          <p:spTgt spid="3">
                                            <p:txEl>
                                              <p:pRg st="0" end="0"/>
                                            </p:txEl>
                                          </p:spTgt>
                                        </p:tgtEl>
                                      </p:cBhvr>
                                      <p:by x="105000" y="105000"/>
                                    </p:animScale>
                                  </p:childTnLst>
                                </p:cTn>
                              </p:par>
                              <p:par>
                                <p:cTn id="13" presetID="26" presetClass="emph" presetSubtype="0" fill="hold" nodeType="withEffect">
                                  <p:stCondLst>
                                    <p:cond delay="0"/>
                                  </p:stCondLst>
                                  <p:childTnLst>
                                    <p:animEffect transition="out" filter="fade">
                                      <p:cBhvr>
                                        <p:cTn id="14" dur="500" tmFilter="0, 0; .2, .5; .8, .5; 1, 0"/>
                                        <p:tgtEl>
                                          <p:spTgt spid="3">
                                            <p:txEl>
                                              <p:pRg st="1" end="1"/>
                                            </p:txEl>
                                          </p:spTgt>
                                        </p:tgtEl>
                                      </p:cBhvr>
                                    </p:animEffect>
                                    <p:animScale>
                                      <p:cBhvr>
                                        <p:cTn id="15" dur="250" autoRev="1" fill="hold"/>
                                        <p:tgtEl>
                                          <p:spTgt spid="3">
                                            <p:txEl>
                                              <p:pRg st="1" end="1"/>
                                            </p:txEl>
                                          </p:spTgt>
                                        </p:tgtEl>
                                      </p:cBhvr>
                                      <p:by x="105000" y="105000"/>
                                    </p:animScale>
                                  </p:childTnLst>
                                </p:cTn>
                              </p:par>
                              <p:par>
                                <p:cTn id="16" presetID="26" presetClass="emph" presetSubtype="0" fill="hold" nodeType="withEffect">
                                  <p:stCondLst>
                                    <p:cond delay="0"/>
                                  </p:stCondLst>
                                  <p:childTnLst>
                                    <p:animEffect transition="out" filter="fade">
                                      <p:cBhvr>
                                        <p:cTn id="17" dur="500" tmFilter="0, 0; .2, .5; .8, .5; 1, 0"/>
                                        <p:tgtEl>
                                          <p:spTgt spid="3">
                                            <p:txEl>
                                              <p:pRg st="2" end="2"/>
                                            </p:txEl>
                                          </p:spTgt>
                                        </p:tgtEl>
                                      </p:cBhvr>
                                    </p:animEffect>
                                    <p:animScale>
                                      <p:cBhvr>
                                        <p:cTn id="18" dur="250" autoRev="1" fill="hold"/>
                                        <p:tgtEl>
                                          <p:spTgt spid="3">
                                            <p:txEl>
                                              <p:pRg st="2" end="2"/>
                                            </p:txEl>
                                          </p:spTgt>
                                        </p:tgtEl>
                                      </p:cBhvr>
                                      <p:by x="105000" y="105000"/>
                                    </p:animScale>
                                  </p:childTnLst>
                                </p:cTn>
                              </p:par>
                              <p:par>
                                <p:cTn id="19" presetID="26" presetClass="emph" presetSubtype="0" fill="hold" nodeType="withEffect">
                                  <p:stCondLst>
                                    <p:cond delay="0"/>
                                  </p:stCondLst>
                                  <p:childTnLst>
                                    <p:animEffect transition="out" filter="fade">
                                      <p:cBhvr>
                                        <p:cTn id="20" dur="500" tmFilter="0, 0; .2, .5; .8, .5; 1, 0"/>
                                        <p:tgtEl>
                                          <p:spTgt spid="3">
                                            <p:txEl>
                                              <p:pRg st="3" end="3"/>
                                            </p:txEl>
                                          </p:spTgt>
                                        </p:tgtEl>
                                      </p:cBhvr>
                                    </p:animEffect>
                                    <p:animScale>
                                      <p:cBhvr>
                                        <p:cTn id="21" dur="250" autoRev="1" fill="hold"/>
                                        <p:tgtEl>
                                          <p:spTgt spid="3">
                                            <p:txEl>
                                              <p:pRg st="3" end="3"/>
                                            </p:txEl>
                                          </p:spTgt>
                                        </p:tgtEl>
                                      </p:cBhvr>
                                      <p:by x="105000" y="105000"/>
                                    </p:animScale>
                                  </p:childTnLst>
                                </p:cTn>
                              </p:par>
                              <p:par>
                                <p:cTn id="22" presetID="26" presetClass="emph" presetSubtype="0" fill="hold" nodeType="withEffect">
                                  <p:stCondLst>
                                    <p:cond delay="0"/>
                                  </p:stCondLst>
                                  <p:childTnLst>
                                    <p:animEffect transition="out" filter="fade">
                                      <p:cBhvr>
                                        <p:cTn id="23" dur="500" tmFilter="0, 0; .2, .5; .8, .5; 1, 0"/>
                                        <p:tgtEl>
                                          <p:spTgt spid="3">
                                            <p:txEl>
                                              <p:pRg st="4" end="4"/>
                                            </p:txEl>
                                          </p:spTgt>
                                        </p:tgtEl>
                                      </p:cBhvr>
                                    </p:animEffect>
                                    <p:animScale>
                                      <p:cBhvr>
                                        <p:cTn id="24" dur="250" autoRev="1" fill="hold"/>
                                        <p:tgtEl>
                                          <p:spTgt spid="3">
                                            <p:txEl>
                                              <p:pRg st="4" end="4"/>
                                            </p:txEl>
                                          </p:spTgt>
                                        </p:tgtEl>
                                      </p:cBhvr>
                                      <p:by x="105000" y="105000"/>
                                    </p:animScale>
                                  </p:childTnLst>
                                </p:cTn>
                              </p:par>
                              <p:par>
                                <p:cTn id="25" presetID="26" presetClass="emph" presetSubtype="0" fill="hold" nodeType="withEffect">
                                  <p:stCondLst>
                                    <p:cond delay="0"/>
                                  </p:stCondLst>
                                  <p:childTnLst>
                                    <p:animEffect transition="out" filter="fade">
                                      <p:cBhvr>
                                        <p:cTn id="26" dur="500" tmFilter="0, 0; .2, .5; .8, .5; 1, 0"/>
                                        <p:tgtEl>
                                          <p:spTgt spid="3">
                                            <p:txEl>
                                              <p:pRg st="5" end="5"/>
                                            </p:txEl>
                                          </p:spTgt>
                                        </p:tgtEl>
                                      </p:cBhvr>
                                    </p:animEffect>
                                    <p:animScale>
                                      <p:cBhvr>
                                        <p:cTn id="27" dur="250" autoRev="1" fill="hold"/>
                                        <p:tgtEl>
                                          <p:spTgt spid="3">
                                            <p:txEl>
                                              <p:pRg st="5" end="5"/>
                                            </p:txEl>
                                          </p:spTgt>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9C27F-5534-4550-8417-4A1764B6208D}"/>
              </a:ext>
            </a:extLst>
          </p:cNvPr>
          <p:cNvSpPr>
            <a:spLocks noGrp="1"/>
          </p:cNvSpPr>
          <p:nvPr>
            <p:ph type="title"/>
          </p:nvPr>
        </p:nvSpPr>
        <p:spPr/>
        <p:txBody>
          <a:bodyPr/>
          <a:lstStyle/>
          <a:p>
            <a:r>
              <a:rPr lang="en-US" b="1" u="sng" dirty="0">
                <a:solidFill>
                  <a:srgbClr val="B01513"/>
                </a:solidFill>
                <a:latin typeface="Times New Roman" panose="02020603050405020304" pitchFamily="18" charset="0"/>
                <a:ea typeface="Tahoma" panose="020B0604030504040204" pitchFamily="34" charset="0"/>
                <a:cs typeface="Times New Roman" panose="02020603050405020304" pitchFamily="18" charset="0"/>
              </a:rPr>
              <a:t>PROJECT Introduction</a:t>
            </a:r>
            <a:endParaRPr lang="en-US" dirty="0">
              <a:solidFill>
                <a:srgbClr val="B01513"/>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FCC09CD-8912-4F8A-A8F4-0424379BEFFC}"/>
              </a:ext>
            </a:extLst>
          </p:cNvPr>
          <p:cNvSpPr>
            <a:spLocks noGrp="1"/>
          </p:cNvSpPr>
          <p:nvPr>
            <p:ph idx="1"/>
          </p:nvPr>
        </p:nvSpPr>
        <p:spPr>
          <a:xfrm>
            <a:off x="1103312" y="1639844"/>
            <a:ext cx="10122407" cy="4633608"/>
          </a:xfrm>
        </p:spPr>
        <p:txBody>
          <a:bodyPr>
            <a:normAutofit lnSpcReduction="10000"/>
          </a:bodyPr>
          <a:lstStyle/>
          <a:p>
            <a:r>
              <a:rPr lang="en-US" dirty="0"/>
              <a:t>Credit-card-based purchases can be categorized into two types: </a:t>
            </a:r>
          </a:p>
          <a:p>
            <a:r>
              <a:rPr lang="en-US" dirty="0"/>
              <a:t>1) physical card and</a:t>
            </a:r>
          </a:p>
          <a:p>
            <a:r>
              <a:rPr lang="en-US" dirty="0"/>
              <a:t> 2) virtual card. </a:t>
            </a:r>
          </a:p>
          <a:p>
            <a:r>
              <a:rPr lang="en-US" dirty="0"/>
              <a:t>In a physical-card based purchase, the cardholder presents his card physically to a merchant for making a payment. </a:t>
            </a:r>
          </a:p>
          <a:p>
            <a:r>
              <a:rPr lang="en-US" dirty="0"/>
              <a:t>To carry out fraudulent transactions in this kind of purchase, an attacker has to steal the credit card. </a:t>
            </a:r>
          </a:p>
          <a:p>
            <a:r>
              <a:rPr lang="en-US" dirty="0"/>
              <a:t>If the cardholder does not realize the loss of card, it can lead to a substantial financial loss to the credit card company. </a:t>
            </a:r>
          </a:p>
          <a:p>
            <a:r>
              <a:rPr lang="en-US" dirty="0"/>
              <a:t>In the second kind of purchase, only some important information about a card (card number, expiration date, secure code) is required to make the payment. Such purchases are normally done on the Internet or over the telephone</a:t>
            </a:r>
          </a:p>
          <a:p>
            <a:endParaRPr lang="en-US" dirty="0"/>
          </a:p>
        </p:txBody>
      </p:sp>
    </p:spTree>
    <p:extLst>
      <p:ext uri="{BB962C8B-B14F-4D97-AF65-F5344CB8AC3E}">
        <p14:creationId xmlns:p14="http://schemas.microsoft.com/office/powerpoint/2010/main" val="2294013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arn(inVertic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arn(inVertic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arn(inVertic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arn(inVertic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2" presetClass="emph" presetSubtype="0" fill="hold" grpId="0" nodeType="clickEffect">
                                  <p:stCondLst>
                                    <p:cond delay="0"/>
                                  </p:stCondLst>
                                  <p:childTnLst>
                                    <p:animRot by="120000">
                                      <p:cBhvr>
                                        <p:cTn id="41" dur="100" fill="hold">
                                          <p:stCondLst>
                                            <p:cond delay="0"/>
                                          </p:stCondLst>
                                        </p:cTn>
                                        <p:tgtEl>
                                          <p:spTgt spid="2"/>
                                        </p:tgtEl>
                                        <p:attrNameLst>
                                          <p:attrName>r</p:attrName>
                                        </p:attrNameLst>
                                      </p:cBhvr>
                                    </p:animRot>
                                    <p:animRot by="-240000">
                                      <p:cBhvr>
                                        <p:cTn id="42" dur="200" fill="hold">
                                          <p:stCondLst>
                                            <p:cond delay="200"/>
                                          </p:stCondLst>
                                        </p:cTn>
                                        <p:tgtEl>
                                          <p:spTgt spid="2"/>
                                        </p:tgtEl>
                                        <p:attrNameLst>
                                          <p:attrName>r</p:attrName>
                                        </p:attrNameLst>
                                      </p:cBhvr>
                                    </p:animRot>
                                    <p:animRot by="240000">
                                      <p:cBhvr>
                                        <p:cTn id="43" dur="200" fill="hold">
                                          <p:stCondLst>
                                            <p:cond delay="400"/>
                                          </p:stCondLst>
                                        </p:cTn>
                                        <p:tgtEl>
                                          <p:spTgt spid="2"/>
                                        </p:tgtEl>
                                        <p:attrNameLst>
                                          <p:attrName>r</p:attrName>
                                        </p:attrNameLst>
                                      </p:cBhvr>
                                    </p:animRot>
                                    <p:animRot by="-240000">
                                      <p:cBhvr>
                                        <p:cTn id="44" dur="200" fill="hold">
                                          <p:stCondLst>
                                            <p:cond delay="600"/>
                                          </p:stCondLst>
                                        </p:cTn>
                                        <p:tgtEl>
                                          <p:spTgt spid="2"/>
                                        </p:tgtEl>
                                        <p:attrNameLst>
                                          <p:attrName>r</p:attrName>
                                        </p:attrNameLst>
                                      </p:cBhvr>
                                    </p:animRot>
                                    <p:animRot by="120000">
                                      <p:cBhvr>
                                        <p:cTn id="45" dur="200" fill="hold">
                                          <p:stCondLst>
                                            <p:cond delay="800"/>
                                          </p:stCondLst>
                                        </p:cTn>
                                        <p:tgtEl>
                                          <p:spTgt spid="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2E7ED1-B54F-440E-A0B3-4C042808FF59}"/>
              </a:ext>
            </a:extLst>
          </p:cNvPr>
          <p:cNvSpPr>
            <a:spLocks noGrp="1"/>
          </p:cNvSpPr>
          <p:nvPr>
            <p:ph type="title"/>
          </p:nvPr>
        </p:nvSpPr>
        <p:spPr/>
        <p:txBody>
          <a:bodyPr/>
          <a:lstStyle/>
          <a:p>
            <a:r>
              <a:rPr lang="en-US" b="1" u="sng" dirty="0">
                <a:solidFill>
                  <a:srgbClr val="B01513"/>
                </a:solidFill>
                <a:latin typeface="Times New Roman" panose="02020603050405020304" pitchFamily="18" charset="0"/>
                <a:cs typeface="Times New Roman" panose="02020603050405020304" pitchFamily="18" charset="0"/>
              </a:rPr>
              <a:t>DOMAIN</a:t>
            </a:r>
          </a:p>
        </p:txBody>
      </p:sp>
      <p:sp>
        <p:nvSpPr>
          <p:cNvPr id="3" name="Content Placeholder 2">
            <a:extLst>
              <a:ext uri="{FF2B5EF4-FFF2-40B4-BE49-F238E27FC236}">
                <a16:creationId xmlns:a16="http://schemas.microsoft.com/office/drawing/2014/main" id="{01A2D1DF-CF90-28FC-8D98-890B3C51B873}"/>
              </a:ext>
            </a:extLst>
          </p:cNvPr>
          <p:cNvSpPr>
            <a:spLocks noGrp="1"/>
          </p:cNvSpPr>
          <p:nvPr>
            <p:ph idx="1"/>
          </p:nvPr>
        </p:nvSpPr>
        <p:spPr>
          <a:xfrm>
            <a:off x="1103312" y="1574800"/>
            <a:ext cx="8946541" cy="4673599"/>
          </a:xfrm>
        </p:spPr>
        <p:txBody>
          <a:bodyPr/>
          <a:lstStyle/>
          <a:p>
            <a:pPr algn="just"/>
            <a:r>
              <a:rPr lang="en-US" b="1" dirty="0">
                <a:solidFill>
                  <a:srgbClr val="FFFF00"/>
                </a:solidFill>
              </a:rPr>
              <a:t>MACHINE LEARNING</a:t>
            </a:r>
          </a:p>
          <a:p>
            <a:pPr algn="just"/>
            <a:r>
              <a:rPr lang="en-US" dirty="0"/>
              <a:t>Machine learning (ML) is a type of artificial intelligence (AI) that allows software applications to become more accurate at predicting outcomes without being explicitly programmed to do so. </a:t>
            </a:r>
          </a:p>
          <a:p>
            <a:pPr algn="just"/>
            <a:r>
              <a:rPr lang="en-US" dirty="0"/>
              <a:t>Machine learning algorithms use historical data as input to predict new output values.</a:t>
            </a:r>
          </a:p>
          <a:p>
            <a:pPr algn="just"/>
            <a:r>
              <a:rPr lang="en-US" dirty="0"/>
              <a:t>Recommendation engines are a common use case for machine learning. </a:t>
            </a:r>
          </a:p>
          <a:p>
            <a:pPr algn="just"/>
            <a:r>
              <a:rPr lang="en-US" dirty="0"/>
              <a:t>Other popular uses include fraud detection, spam filtering, malware threat detection, business process automation (BPA) and Predictive maintenance.</a:t>
            </a:r>
          </a:p>
        </p:txBody>
      </p:sp>
    </p:spTree>
    <p:extLst>
      <p:ext uri="{BB962C8B-B14F-4D97-AF65-F5344CB8AC3E}">
        <p14:creationId xmlns:p14="http://schemas.microsoft.com/office/powerpoint/2010/main" val="251445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1" presetClass="entr" presetSubtype="1"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wheel(1)">
                                      <p:cBhvr>
                                        <p:cTn id="11" dur="2000"/>
                                        <p:tgtEl>
                                          <p:spTgt spid="3">
                                            <p:txEl>
                                              <p:pRg st="0" end="0"/>
                                            </p:txEl>
                                          </p:spTgt>
                                        </p:tgtEl>
                                      </p:cBhvr>
                                    </p:animEffect>
                                  </p:childTnLst>
                                </p:cTn>
                              </p:par>
                              <p:par>
                                <p:cTn id="12" presetID="21" presetClass="entr" presetSubtype="1" fill="hold" nodeType="with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wheel(1)">
                                      <p:cBhvr>
                                        <p:cTn id="14" dur="2000"/>
                                        <p:tgtEl>
                                          <p:spTgt spid="3">
                                            <p:txEl>
                                              <p:pRg st="1" end="1"/>
                                            </p:txEl>
                                          </p:spTgt>
                                        </p:tgtEl>
                                      </p:cBhvr>
                                    </p:animEffect>
                                  </p:childTnLst>
                                </p:cTn>
                              </p:par>
                              <p:par>
                                <p:cTn id="15" presetID="21" presetClass="entr" presetSubtype="1"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heel(1)">
                                      <p:cBhvr>
                                        <p:cTn id="17" dur="2000"/>
                                        <p:tgtEl>
                                          <p:spTgt spid="3">
                                            <p:txEl>
                                              <p:pRg st="2" end="2"/>
                                            </p:txEl>
                                          </p:spTgt>
                                        </p:tgtEl>
                                      </p:cBhvr>
                                    </p:animEffect>
                                  </p:childTnLst>
                                </p:cTn>
                              </p:par>
                              <p:par>
                                <p:cTn id="18" presetID="21" presetClass="entr" presetSubtype="1" fill="hold"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wheel(1)">
                                      <p:cBhvr>
                                        <p:cTn id="20" dur="2000"/>
                                        <p:tgtEl>
                                          <p:spTgt spid="3">
                                            <p:txEl>
                                              <p:pRg st="3" end="3"/>
                                            </p:txEl>
                                          </p:spTgt>
                                        </p:tgtEl>
                                      </p:cBhvr>
                                    </p:animEffect>
                                  </p:childTnLst>
                                </p:cTn>
                              </p:par>
                              <p:par>
                                <p:cTn id="21" presetID="21" presetClass="entr" presetSubtype="1"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heel(1)">
                                      <p:cBhvr>
                                        <p:cTn id="23"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DE8A2-3F8C-4B11-8652-CC3564193404}"/>
              </a:ext>
            </a:extLst>
          </p:cNvPr>
          <p:cNvSpPr>
            <a:spLocks noGrp="1"/>
          </p:cNvSpPr>
          <p:nvPr>
            <p:ph type="title"/>
          </p:nvPr>
        </p:nvSpPr>
        <p:spPr/>
        <p:txBody>
          <a:bodyPr>
            <a:normAutofit/>
          </a:bodyPr>
          <a:lstStyle/>
          <a:p>
            <a:r>
              <a:rPr lang="en-US" b="1" u="sng" dirty="0">
                <a:solidFill>
                  <a:srgbClr val="B01513"/>
                </a:solidFill>
                <a:latin typeface="Times New Roman" panose="02020603050405020304" pitchFamily="18" charset="0"/>
                <a:cs typeface="Times New Roman" panose="02020603050405020304" pitchFamily="18" charset="0"/>
              </a:rPr>
              <a:t>SCOPE OF THE PROJECT</a:t>
            </a:r>
            <a:endParaRPr lang="en-US" b="1" dirty="0">
              <a:solidFill>
                <a:srgbClr val="B01513"/>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7E9A35A-219B-4FEC-914A-7E235998084E}"/>
              </a:ext>
            </a:extLst>
          </p:cNvPr>
          <p:cNvSpPr>
            <a:spLocks noGrp="1"/>
          </p:cNvSpPr>
          <p:nvPr>
            <p:ph idx="1"/>
          </p:nvPr>
        </p:nvSpPr>
        <p:spPr>
          <a:xfrm>
            <a:off x="1103312" y="1562100"/>
            <a:ext cx="8946541" cy="4686299"/>
          </a:xfrm>
        </p:spPr>
        <p:txBody>
          <a:bodyPr>
            <a:normAutofit fontScale="40000" lnSpcReduction="20000"/>
          </a:bodyPr>
          <a:lstStyle/>
          <a:p>
            <a:pPr algn="just">
              <a:lnSpc>
                <a:spcPct val="170000"/>
              </a:lnSpc>
            </a:pPr>
            <a:endParaRPr lang="en-US" dirty="0">
              <a:latin typeface="Times New Roman" panose="02020603050405020304" pitchFamily="18" charset="0"/>
              <a:cs typeface="Times New Roman" panose="02020603050405020304" pitchFamily="18" charset="0"/>
            </a:endParaRPr>
          </a:p>
          <a:p>
            <a:pPr algn="just">
              <a:lnSpc>
                <a:spcPct val="170000"/>
              </a:lnSpc>
            </a:pPr>
            <a:endParaRPr lang="en-US" dirty="0">
              <a:latin typeface="Times New Roman" panose="02020603050405020304" pitchFamily="18" charset="0"/>
              <a:cs typeface="Times New Roman" panose="02020603050405020304" pitchFamily="18" charset="0"/>
            </a:endParaRPr>
          </a:p>
          <a:p>
            <a:pPr algn="just">
              <a:lnSpc>
                <a:spcPct val="170000"/>
              </a:lnSpc>
            </a:pPr>
            <a:r>
              <a:rPr lang="en-US" sz="6000" dirty="0">
                <a:latin typeface="Times New Roman" panose="02020603050405020304" pitchFamily="18" charset="0"/>
                <a:cs typeface="Times New Roman" panose="02020603050405020304" pitchFamily="18" charset="0"/>
              </a:rPr>
              <a:t>To detect and block from fraud transactions using a credit card.</a:t>
            </a:r>
          </a:p>
          <a:p>
            <a:pPr algn="just">
              <a:lnSpc>
                <a:spcPct val="170000"/>
              </a:lnSpc>
            </a:pPr>
            <a:r>
              <a:rPr lang="en-US" sz="6000" dirty="0">
                <a:latin typeface="Times New Roman" panose="02020603050405020304" pitchFamily="18" charset="0"/>
                <a:cs typeface="Times New Roman" panose="02020603050405020304" pitchFamily="18" charset="0"/>
              </a:rPr>
              <a:t>Credit cards play an exploding role in modern economies.</a:t>
            </a:r>
          </a:p>
          <a:p>
            <a:pPr algn="just">
              <a:lnSpc>
                <a:spcPct val="170000"/>
              </a:lnSpc>
            </a:pPr>
            <a:r>
              <a:rPr lang="en-US" sz="6000" dirty="0">
                <a:latin typeface="Times New Roman" panose="02020603050405020304" pitchFamily="18" charset="0"/>
                <a:cs typeface="Times New Roman" panose="02020603050405020304" pitchFamily="18" charset="0"/>
              </a:rPr>
              <a:t> Its popularity and ubiquity have created a fertile ground for fraud, assisted by the cross boarder reach and instantaneous confirmation.</a:t>
            </a:r>
          </a:p>
          <a:p>
            <a:pPr algn="just">
              <a:lnSpc>
                <a:spcPct val="170000"/>
              </a:lnSpc>
            </a:pPr>
            <a:r>
              <a:rPr lang="en-US" sz="6000" dirty="0">
                <a:latin typeface="Times New Roman" panose="02020603050405020304" pitchFamily="18" charset="0"/>
                <a:cs typeface="Times New Roman" panose="02020603050405020304" pitchFamily="18" charset="0"/>
              </a:rPr>
              <a:t> While transactions are growing, the fraud percentages are also on the rise </a:t>
            </a:r>
          </a:p>
          <a:p>
            <a:pPr algn="just">
              <a:lnSpc>
                <a:spcPct val="170000"/>
              </a:lnSpc>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48765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additive="base">
                                        <p:cTn id="3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 calcmode="lin" valueType="num">
                                      <p:cBhvr additive="base">
                                        <p:cTn id="3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5" end="5"/>
                                            </p:txEl>
                                          </p:spTgt>
                                        </p:tgtEl>
                                        <p:attrNameLst>
                                          <p:attrName>style.visibility</p:attrName>
                                        </p:attrNameLst>
                                      </p:cBhvr>
                                      <p:to>
                                        <p:strVal val="visible"/>
                                      </p:to>
                                    </p:set>
                                    <p:anim calcmode="lin" valueType="num">
                                      <p:cBhvr additive="base">
                                        <p:cTn id="4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b="1" dirty="0">
                <a:solidFill>
                  <a:srgbClr val="B01513"/>
                </a:solidFill>
                <a:latin typeface="Times New Roman" pitchFamily="18" charset="0"/>
                <a:cs typeface="Times New Roman" pitchFamily="18" charset="0"/>
              </a:rPr>
              <a:t>LITERATURE SURVEY</a:t>
            </a:r>
          </a:p>
        </p:txBody>
      </p:sp>
      <p:graphicFrame>
        <p:nvGraphicFramePr>
          <p:cNvPr id="9" name="Table 8"/>
          <p:cNvGraphicFramePr>
            <a:graphicFrameLocks noGrp="1"/>
          </p:cNvGraphicFramePr>
          <p:nvPr/>
        </p:nvGraphicFramePr>
        <p:xfrm>
          <a:off x="1905000" y="1447800"/>
          <a:ext cx="8229600" cy="4683359"/>
        </p:xfrm>
        <a:graphic>
          <a:graphicData uri="http://schemas.openxmlformats.org/drawingml/2006/table">
            <a:tbl>
              <a:tblPr/>
              <a:tblGrid>
                <a:gridCol w="1935360">
                  <a:extLst>
                    <a:ext uri="{9D8B030D-6E8A-4147-A177-3AD203B41FA5}">
                      <a16:colId xmlns:a16="http://schemas.microsoft.com/office/drawing/2014/main" val="20000"/>
                    </a:ext>
                  </a:extLst>
                </a:gridCol>
                <a:gridCol w="1534319">
                  <a:extLst>
                    <a:ext uri="{9D8B030D-6E8A-4147-A177-3AD203B41FA5}">
                      <a16:colId xmlns:a16="http://schemas.microsoft.com/office/drawing/2014/main" val="20001"/>
                    </a:ext>
                  </a:extLst>
                </a:gridCol>
                <a:gridCol w="1130401">
                  <a:extLst>
                    <a:ext uri="{9D8B030D-6E8A-4147-A177-3AD203B41FA5}">
                      <a16:colId xmlns:a16="http://schemas.microsoft.com/office/drawing/2014/main" val="20002"/>
                    </a:ext>
                  </a:extLst>
                </a:gridCol>
                <a:gridCol w="1361521">
                  <a:extLst>
                    <a:ext uri="{9D8B030D-6E8A-4147-A177-3AD203B41FA5}">
                      <a16:colId xmlns:a16="http://schemas.microsoft.com/office/drawing/2014/main" val="20003"/>
                    </a:ext>
                  </a:extLst>
                </a:gridCol>
                <a:gridCol w="2267999">
                  <a:extLst>
                    <a:ext uri="{9D8B030D-6E8A-4147-A177-3AD203B41FA5}">
                      <a16:colId xmlns:a16="http://schemas.microsoft.com/office/drawing/2014/main" val="20004"/>
                    </a:ext>
                  </a:extLst>
                </a:gridCol>
              </a:tblGrid>
              <a:tr h="322378">
                <a:tc>
                  <a:txBody>
                    <a:bodyPr/>
                    <a:lstStyle/>
                    <a:p>
                      <a:pPr marL="0" marR="0">
                        <a:lnSpc>
                          <a:spcPct val="115000"/>
                        </a:lnSpc>
                        <a:spcBef>
                          <a:spcPts val="0"/>
                        </a:spcBef>
                        <a:spcAft>
                          <a:spcPts val="0"/>
                        </a:spcAft>
                      </a:pPr>
                      <a:r>
                        <a:rPr lang="en-US" sz="800" b="1" dirty="0">
                          <a:latin typeface="Times New Roman" panose="02020603050405020304" pitchFamily="18" charset="0"/>
                          <a:ea typeface="Calibri"/>
                          <a:cs typeface="Times New Roman" panose="02020603050405020304" pitchFamily="18" charset="0"/>
                        </a:rPr>
                        <a:t>TITLE</a:t>
                      </a:r>
                      <a:endParaRPr lang="en-US" sz="800" dirty="0">
                        <a:latin typeface="Times New Roman" panose="02020603050405020304" pitchFamily="18" charset="0"/>
                        <a:ea typeface="Calibri"/>
                        <a:cs typeface="Times New Roman" panose="02020603050405020304" pitchFamily="18" charset="0"/>
                      </a:endParaRPr>
                    </a:p>
                  </a:txBody>
                  <a:tcPr marL="48141" marR="4814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800" b="1" dirty="0">
                          <a:latin typeface="Times New Roman" panose="02020603050405020304" pitchFamily="18" charset="0"/>
                          <a:ea typeface="Calibri"/>
                          <a:cs typeface="Times New Roman" panose="02020603050405020304" pitchFamily="18" charset="0"/>
                        </a:rPr>
                        <a:t>AUTHOR</a:t>
                      </a:r>
                      <a:endParaRPr lang="en-US" sz="800" dirty="0">
                        <a:latin typeface="Times New Roman" panose="02020603050405020304" pitchFamily="18" charset="0"/>
                        <a:ea typeface="Calibri"/>
                        <a:cs typeface="Times New Roman" panose="02020603050405020304" pitchFamily="18" charset="0"/>
                      </a:endParaRPr>
                    </a:p>
                  </a:txBody>
                  <a:tcPr marL="48141" marR="4814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800" b="1" dirty="0">
                          <a:latin typeface="Times New Roman" panose="02020603050405020304" pitchFamily="18" charset="0"/>
                          <a:ea typeface="Calibri"/>
                          <a:cs typeface="Times New Roman" panose="02020603050405020304" pitchFamily="18" charset="0"/>
                        </a:rPr>
                        <a:t>MONTH/</a:t>
                      </a:r>
                      <a:endParaRPr lang="en-US" sz="800" dirty="0">
                        <a:latin typeface="Times New Roman" panose="02020603050405020304" pitchFamily="18" charset="0"/>
                        <a:ea typeface="Calibri"/>
                        <a:cs typeface="Times New Roman" panose="02020603050405020304" pitchFamily="18" charset="0"/>
                      </a:endParaRPr>
                    </a:p>
                    <a:p>
                      <a:pPr marL="0" marR="0">
                        <a:lnSpc>
                          <a:spcPct val="115000"/>
                        </a:lnSpc>
                        <a:spcBef>
                          <a:spcPts val="0"/>
                        </a:spcBef>
                        <a:spcAft>
                          <a:spcPts val="0"/>
                        </a:spcAft>
                      </a:pPr>
                      <a:r>
                        <a:rPr lang="en-US" sz="800" b="1" dirty="0">
                          <a:latin typeface="Times New Roman" panose="02020603050405020304" pitchFamily="18" charset="0"/>
                          <a:ea typeface="Calibri"/>
                          <a:cs typeface="Times New Roman" panose="02020603050405020304" pitchFamily="18" charset="0"/>
                        </a:rPr>
                        <a:t>YEAR</a:t>
                      </a:r>
                      <a:endParaRPr lang="en-US" sz="800" dirty="0">
                        <a:latin typeface="Times New Roman" panose="02020603050405020304" pitchFamily="18" charset="0"/>
                        <a:ea typeface="Calibri"/>
                        <a:cs typeface="Times New Roman" panose="02020603050405020304" pitchFamily="18" charset="0"/>
                      </a:endParaRPr>
                    </a:p>
                  </a:txBody>
                  <a:tcPr marL="48141" marR="4814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800" b="1" dirty="0">
                          <a:latin typeface="Times New Roman" panose="02020603050405020304" pitchFamily="18" charset="0"/>
                          <a:ea typeface="Calibri"/>
                          <a:cs typeface="Times New Roman" panose="02020603050405020304" pitchFamily="18" charset="0"/>
                        </a:rPr>
                        <a:t>JOURNAL/</a:t>
                      </a:r>
                      <a:endParaRPr lang="en-US" sz="800" dirty="0">
                        <a:latin typeface="Times New Roman" panose="02020603050405020304" pitchFamily="18" charset="0"/>
                        <a:ea typeface="Calibri"/>
                        <a:cs typeface="Times New Roman" panose="02020603050405020304" pitchFamily="18" charset="0"/>
                      </a:endParaRPr>
                    </a:p>
                    <a:p>
                      <a:pPr marL="0" marR="0">
                        <a:lnSpc>
                          <a:spcPct val="115000"/>
                        </a:lnSpc>
                        <a:spcBef>
                          <a:spcPts val="0"/>
                        </a:spcBef>
                        <a:spcAft>
                          <a:spcPts val="0"/>
                        </a:spcAft>
                      </a:pPr>
                      <a:r>
                        <a:rPr lang="en-US" sz="800" b="1" dirty="0">
                          <a:latin typeface="Times New Roman" panose="02020603050405020304" pitchFamily="18" charset="0"/>
                          <a:ea typeface="Calibri"/>
                          <a:cs typeface="Times New Roman" panose="02020603050405020304" pitchFamily="18" charset="0"/>
                        </a:rPr>
                        <a:t>CONFERENCE</a:t>
                      </a:r>
                      <a:endParaRPr lang="en-US" sz="800" dirty="0">
                        <a:latin typeface="Times New Roman" panose="02020603050405020304" pitchFamily="18" charset="0"/>
                        <a:ea typeface="Calibri"/>
                        <a:cs typeface="Times New Roman" panose="02020603050405020304" pitchFamily="18" charset="0"/>
                      </a:endParaRPr>
                    </a:p>
                  </a:txBody>
                  <a:tcPr marL="48141" marR="4814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800" b="1" dirty="0">
                          <a:latin typeface="Times New Roman" panose="02020603050405020304" pitchFamily="18" charset="0"/>
                          <a:ea typeface="Calibri"/>
                          <a:cs typeface="Times New Roman" panose="02020603050405020304" pitchFamily="18" charset="0"/>
                        </a:rPr>
                        <a:t>EXPLANATION</a:t>
                      </a:r>
                      <a:endParaRPr lang="en-US" sz="800" dirty="0">
                        <a:latin typeface="Times New Roman" panose="02020603050405020304" pitchFamily="18" charset="0"/>
                        <a:ea typeface="Calibri"/>
                        <a:cs typeface="Times New Roman" panose="02020603050405020304" pitchFamily="18" charset="0"/>
                      </a:endParaRPr>
                    </a:p>
                  </a:txBody>
                  <a:tcPr marL="48141" marR="4814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861947">
                <a:tc>
                  <a:txBody>
                    <a:bodyPr/>
                    <a:lstStyle/>
                    <a:p>
                      <a:pPr marL="0" marR="0" algn="just">
                        <a:lnSpc>
                          <a:spcPct val="150000"/>
                        </a:lnSpc>
                        <a:spcBef>
                          <a:spcPts val="0"/>
                        </a:spcBef>
                        <a:spcAft>
                          <a:spcPts val="0"/>
                        </a:spcAft>
                      </a:pPr>
                      <a:r>
                        <a:rPr lang="en-US" sz="800" dirty="0"/>
                        <a:t>Random Forest for Credit Card Fraud Detection</a:t>
                      </a:r>
                      <a:endParaRPr lang="en-US" sz="800" dirty="0">
                        <a:latin typeface="Times New Roman" panose="02020603050405020304" pitchFamily="18" charset="0"/>
                        <a:ea typeface="Calibri"/>
                        <a:cs typeface="Times New Roman" panose="02020603050405020304" pitchFamily="18" charset="0"/>
                      </a:endParaRPr>
                    </a:p>
                  </a:txBody>
                  <a:tcPr marL="48141" marR="4814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it-IT" sz="800" dirty="0"/>
                        <a:t>Hettiarachchi H.A.C.K. </a:t>
                      </a:r>
                      <a:endParaRPr lang="en-US" sz="800" dirty="0">
                        <a:latin typeface="Times New Roman" panose="02020603050405020304" pitchFamily="18" charset="0"/>
                        <a:ea typeface="Calibri"/>
                        <a:cs typeface="Times New Roman" panose="02020603050405020304" pitchFamily="18" charset="0"/>
                      </a:endParaRPr>
                    </a:p>
                  </a:txBody>
                  <a:tcPr marL="48141" marR="4814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700" dirty="0">
                          <a:latin typeface="Times New Roman" panose="02020603050405020304" pitchFamily="18" charset="0"/>
                          <a:ea typeface="Bookman Old Style"/>
                          <a:cs typeface="Times New Roman" panose="02020603050405020304" pitchFamily="18" charset="0"/>
                        </a:rPr>
                        <a:t>December</a:t>
                      </a:r>
                      <a:r>
                        <a:rPr lang="en-US" sz="700" baseline="0" dirty="0">
                          <a:latin typeface="Times New Roman" panose="02020603050405020304" pitchFamily="18" charset="0"/>
                          <a:ea typeface="Bookman Old Style"/>
                          <a:cs typeface="Times New Roman" panose="02020603050405020304" pitchFamily="18" charset="0"/>
                        </a:rPr>
                        <a:t> 2021</a:t>
                      </a:r>
                      <a:endParaRPr lang="en-US" sz="800" dirty="0">
                        <a:latin typeface="Times New Roman" panose="02020603050405020304" pitchFamily="18" charset="0"/>
                        <a:ea typeface="Calibri"/>
                        <a:cs typeface="Times New Roman" panose="02020603050405020304" pitchFamily="18" charset="0"/>
                      </a:endParaRPr>
                    </a:p>
                  </a:txBody>
                  <a:tcPr marL="48141" marR="4814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700" dirty="0">
                          <a:latin typeface="Times New Roman" panose="02020603050405020304" pitchFamily="18" charset="0"/>
                          <a:ea typeface="Calibri"/>
                          <a:cs typeface="Times New Roman" panose="02020603050405020304" pitchFamily="18" charset="0"/>
                        </a:rPr>
                        <a:t>IEEE</a:t>
                      </a:r>
                      <a:endParaRPr lang="en-US" sz="800" dirty="0">
                        <a:latin typeface="Times New Roman" panose="02020603050405020304" pitchFamily="18" charset="0"/>
                        <a:ea typeface="Calibri"/>
                        <a:cs typeface="Times New Roman" panose="02020603050405020304" pitchFamily="18" charset="0"/>
                      </a:endParaRPr>
                    </a:p>
                  </a:txBody>
                  <a:tcPr marL="48141" marR="4814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000" dirty="0"/>
                        <a:t>SVM (Support Vector Machine) Small change in data will not affect the model stability. Long training time, lots of memory required.</a:t>
                      </a:r>
                      <a:endParaRPr lang="en-US" sz="1000" dirty="0">
                        <a:latin typeface="Times New Roman" panose="02020603050405020304" pitchFamily="18" charset="0"/>
                        <a:ea typeface="Calibri"/>
                        <a:cs typeface="Times New Roman" panose="02020603050405020304" pitchFamily="18" charset="0"/>
                      </a:endParaRPr>
                    </a:p>
                  </a:txBody>
                  <a:tcPr marL="48141" marR="4814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990060">
                <a:tc>
                  <a:txBody>
                    <a:bodyPr/>
                    <a:lstStyle/>
                    <a:p>
                      <a:pPr marL="0" marR="0">
                        <a:lnSpc>
                          <a:spcPct val="115000"/>
                        </a:lnSpc>
                        <a:spcBef>
                          <a:spcPts val="0"/>
                        </a:spcBef>
                        <a:spcAft>
                          <a:spcPts val="0"/>
                        </a:spcAft>
                      </a:pPr>
                      <a:r>
                        <a:rPr lang="en-US" sz="800" dirty="0"/>
                        <a:t>Credit Card Fraud Detection - Machine Learning methods</a:t>
                      </a:r>
                      <a:endParaRPr lang="en-US" sz="800" dirty="0">
                        <a:latin typeface="Times New Roman" panose="02020603050405020304" pitchFamily="18" charset="0"/>
                        <a:ea typeface="Calibri"/>
                        <a:cs typeface="Times New Roman" panose="02020603050405020304" pitchFamily="18" charset="0"/>
                      </a:endParaRPr>
                    </a:p>
                  </a:txBody>
                  <a:tcPr marL="48141" marR="4814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800" dirty="0"/>
                        <a:t>Nikhil Jadhav</a:t>
                      </a:r>
                      <a:endParaRPr lang="en-US" sz="800" dirty="0">
                        <a:latin typeface="Times New Roman" panose="02020603050405020304" pitchFamily="18" charset="0"/>
                        <a:ea typeface="Calibri"/>
                        <a:cs typeface="Times New Roman" panose="02020603050405020304" pitchFamily="18" charset="0"/>
                      </a:endParaRPr>
                    </a:p>
                  </a:txBody>
                  <a:tcPr marL="48141" marR="4814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700" dirty="0">
                          <a:latin typeface="Times New Roman" panose="02020603050405020304" pitchFamily="18" charset="0"/>
                          <a:ea typeface="Bookman Old Style"/>
                          <a:cs typeface="Times New Roman" panose="02020603050405020304" pitchFamily="18" charset="0"/>
                        </a:rPr>
                        <a:t>2020</a:t>
                      </a:r>
                      <a:endParaRPr lang="en-US" sz="800" dirty="0">
                        <a:latin typeface="Times New Roman" panose="02020603050405020304" pitchFamily="18" charset="0"/>
                        <a:ea typeface="Calibri"/>
                        <a:cs typeface="Times New Roman" panose="02020603050405020304" pitchFamily="18" charset="0"/>
                      </a:endParaRPr>
                    </a:p>
                  </a:txBody>
                  <a:tcPr marL="48141" marR="4814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700" dirty="0">
                          <a:latin typeface="Times New Roman" panose="02020603050405020304" pitchFamily="18" charset="0"/>
                          <a:ea typeface="Calibri"/>
                          <a:cs typeface="Times New Roman" panose="02020603050405020304" pitchFamily="18" charset="0"/>
                        </a:rPr>
                        <a:t>IEEE</a:t>
                      </a:r>
                      <a:endParaRPr lang="en-US" sz="800" dirty="0">
                        <a:latin typeface="Times New Roman" panose="02020603050405020304" pitchFamily="18" charset="0"/>
                        <a:ea typeface="Calibri"/>
                        <a:cs typeface="Times New Roman" panose="02020603050405020304" pitchFamily="18" charset="0"/>
                      </a:endParaRPr>
                    </a:p>
                  </a:txBody>
                  <a:tcPr marL="48141" marR="4814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800" dirty="0"/>
                        <a:t>Logistic Regression It tells about coefficient size with direction (positive/negative) If (No. of observation&lt; features) than it may lead to over fit.</a:t>
                      </a:r>
                      <a:endParaRPr lang="en-US" sz="800" dirty="0">
                        <a:latin typeface="Times New Roman" panose="02020603050405020304" pitchFamily="18" charset="0"/>
                        <a:ea typeface="Calibri"/>
                        <a:cs typeface="Times New Roman" panose="02020603050405020304" pitchFamily="18" charset="0"/>
                      </a:endParaRPr>
                    </a:p>
                  </a:txBody>
                  <a:tcPr marL="48141" marR="4814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737933">
                <a:tc>
                  <a:txBody>
                    <a:bodyPr/>
                    <a:lstStyle/>
                    <a:p>
                      <a:pPr marL="0" marR="0" algn="just">
                        <a:lnSpc>
                          <a:spcPct val="150000"/>
                        </a:lnSpc>
                        <a:spcBef>
                          <a:spcPts val="0"/>
                        </a:spcBef>
                        <a:spcAft>
                          <a:spcPts val="0"/>
                        </a:spcAft>
                      </a:pPr>
                      <a:r>
                        <a:rPr lang="en-US" sz="800" dirty="0"/>
                        <a:t>A Comparative Study of Machine Learning Techniques for Credit Card Fraud Detection Based on Time Variance</a:t>
                      </a:r>
                      <a:endParaRPr lang="en-US" sz="800" dirty="0">
                        <a:latin typeface="Times New Roman" panose="02020603050405020304" pitchFamily="18" charset="0"/>
                        <a:ea typeface="Calibri"/>
                        <a:cs typeface="Times New Roman" panose="02020603050405020304" pitchFamily="18" charset="0"/>
                      </a:endParaRPr>
                    </a:p>
                  </a:txBody>
                  <a:tcPr marL="48141" marR="4814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800" dirty="0"/>
                        <a:t>Felix G. Hamza-</a:t>
                      </a:r>
                      <a:r>
                        <a:rPr lang="en-US" sz="800" dirty="0" err="1"/>
                        <a:t>Lup</a:t>
                      </a:r>
                      <a:endParaRPr lang="en-US" sz="800" dirty="0">
                        <a:latin typeface="Times New Roman" panose="02020603050405020304" pitchFamily="18" charset="0"/>
                        <a:ea typeface="Calibri"/>
                        <a:cs typeface="Times New Roman" panose="02020603050405020304" pitchFamily="18" charset="0"/>
                      </a:endParaRPr>
                    </a:p>
                  </a:txBody>
                  <a:tcPr marL="48141" marR="4814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700" dirty="0">
                          <a:latin typeface="Times New Roman" panose="02020603050405020304" pitchFamily="18" charset="0"/>
                          <a:ea typeface="Bookman Old Style"/>
                          <a:cs typeface="Times New Roman" panose="02020603050405020304" pitchFamily="18" charset="0"/>
                        </a:rPr>
                        <a:t>2021</a:t>
                      </a:r>
                      <a:endParaRPr lang="en-US" sz="800" dirty="0">
                        <a:latin typeface="Times New Roman" panose="02020603050405020304" pitchFamily="18" charset="0"/>
                        <a:ea typeface="Calibri"/>
                        <a:cs typeface="Times New Roman" panose="02020603050405020304" pitchFamily="18" charset="0"/>
                      </a:endParaRPr>
                    </a:p>
                  </a:txBody>
                  <a:tcPr marL="48141" marR="4814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700" dirty="0">
                          <a:latin typeface="Times New Roman" panose="02020603050405020304" pitchFamily="18" charset="0"/>
                          <a:ea typeface="Calibri"/>
                          <a:cs typeface="Times New Roman" panose="02020603050405020304" pitchFamily="18" charset="0"/>
                        </a:rPr>
                        <a:t>IEEE</a:t>
                      </a:r>
                      <a:endParaRPr lang="en-US" sz="800" dirty="0">
                        <a:latin typeface="Times New Roman" panose="02020603050405020304" pitchFamily="18" charset="0"/>
                        <a:ea typeface="Calibri"/>
                        <a:cs typeface="Times New Roman" panose="02020603050405020304" pitchFamily="18" charset="0"/>
                      </a:endParaRPr>
                    </a:p>
                  </a:txBody>
                  <a:tcPr marL="48141" marR="4814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000" dirty="0"/>
                        <a:t>Gaussian Naïve Bayes The prediction and training process is fast and gives best result with small data sets.</a:t>
                      </a:r>
                      <a:endParaRPr lang="en-US" sz="1000" dirty="0">
                        <a:latin typeface="Times New Roman" panose="02020603050405020304" pitchFamily="18" charset="0"/>
                        <a:ea typeface="Calibri"/>
                        <a:cs typeface="Times New Roman" panose="02020603050405020304" pitchFamily="18" charset="0"/>
                      </a:endParaRPr>
                    </a:p>
                  </a:txBody>
                  <a:tcPr marL="48141" marR="4814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922417">
                <a:tc>
                  <a:txBody>
                    <a:bodyPr/>
                    <a:lstStyle/>
                    <a:p>
                      <a:pPr marL="0" marR="0" algn="just">
                        <a:lnSpc>
                          <a:spcPct val="150000"/>
                        </a:lnSpc>
                        <a:spcBef>
                          <a:spcPts val="0"/>
                        </a:spcBef>
                        <a:spcAft>
                          <a:spcPts val="0"/>
                        </a:spcAft>
                      </a:pPr>
                      <a:r>
                        <a:rPr lang="en-US" sz="800" dirty="0"/>
                        <a:t>Credit Card Fraud Detection: A Novel Approach Using Aggregation Strategy and Feedback Mechanism</a:t>
                      </a:r>
                      <a:endParaRPr lang="en-US" sz="800" dirty="0">
                        <a:latin typeface="Times New Roman" panose="02020603050405020304" pitchFamily="18" charset="0"/>
                        <a:ea typeface="Calibri"/>
                        <a:cs typeface="Times New Roman" panose="02020603050405020304" pitchFamily="18" charset="0"/>
                      </a:endParaRPr>
                    </a:p>
                  </a:txBody>
                  <a:tcPr marL="48141" marR="4814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800" dirty="0" err="1"/>
                        <a:t>Mengwei</a:t>
                      </a:r>
                      <a:r>
                        <a:rPr lang="en-US" sz="800" dirty="0"/>
                        <a:t> Pang</a:t>
                      </a:r>
                      <a:endParaRPr lang="en-US" sz="800" dirty="0">
                        <a:latin typeface="Times New Roman" panose="02020603050405020304" pitchFamily="18" charset="0"/>
                        <a:ea typeface="Calibri"/>
                        <a:cs typeface="Times New Roman" panose="02020603050405020304" pitchFamily="18" charset="0"/>
                      </a:endParaRPr>
                    </a:p>
                  </a:txBody>
                  <a:tcPr marL="48141" marR="4814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700" dirty="0">
                          <a:latin typeface="Times New Roman" panose="02020603050405020304" pitchFamily="18" charset="0"/>
                          <a:ea typeface="Calibri"/>
                          <a:cs typeface="Times New Roman" panose="02020603050405020304" pitchFamily="18" charset="0"/>
                        </a:rPr>
                        <a:t>2020</a:t>
                      </a:r>
                      <a:endParaRPr lang="en-US" sz="800" dirty="0">
                        <a:latin typeface="Times New Roman" panose="02020603050405020304" pitchFamily="18" charset="0"/>
                        <a:ea typeface="Calibri"/>
                        <a:cs typeface="Times New Roman" panose="02020603050405020304" pitchFamily="18" charset="0"/>
                      </a:endParaRPr>
                    </a:p>
                  </a:txBody>
                  <a:tcPr marL="48141" marR="4814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700" dirty="0">
                          <a:latin typeface="Times New Roman" panose="02020603050405020304" pitchFamily="18" charset="0"/>
                          <a:ea typeface="Calibri"/>
                          <a:cs typeface="Times New Roman" panose="02020603050405020304" pitchFamily="18" charset="0"/>
                        </a:rPr>
                        <a:t>IEEE</a:t>
                      </a:r>
                      <a:endParaRPr lang="en-US" sz="800" dirty="0">
                        <a:latin typeface="Times New Roman" panose="02020603050405020304" pitchFamily="18" charset="0"/>
                        <a:ea typeface="Calibri"/>
                        <a:cs typeface="Times New Roman" panose="02020603050405020304" pitchFamily="18" charset="0"/>
                      </a:endParaRPr>
                    </a:p>
                  </a:txBody>
                  <a:tcPr marL="48141" marR="4814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800" dirty="0"/>
                        <a:t>K-Neighbor Classification Since it doesn’t require training time new data can easily added to it. Need scaled data. It can’t work with high dimensionality. </a:t>
                      </a:r>
                      <a:endParaRPr lang="en-US" sz="800" dirty="0">
                        <a:latin typeface="Times New Roman" panose="02020603050405020304" pitchFamily="18" charset="0"/>
                        <a:ea typeface="Calibri"/>
                        <a:cs typeface="Times New Roman" panose="02020603050405020304" pitchFamily="18" charset="0"/>
                      </a:endParaRPr>
                    </a:p>
                  </a:txBody>
                  <a:tcPr marL="48141" marR="4814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848622">
                <a:tc>
                  <a:txBody>
                    <a:bodyPr/>
                    <a:lstStyle/>
                    <a:p>
                      <a:pPr marL="0" marR="0" algn="just">
                        <a:lnSpc>
                          <a:spcPct val="150000"/>
                        </a:lnSpc>
                        <a:spcBef>
                          <a:spcPts val="0"/>
                        </a:spcBef>
                        <a:spcAft>
                          <a:spcPts val="0"/>
                        </a:spcAft>
                      </a:pPr>
                      <a:r>
                        <a:rPr lang="en-US" sz="800" dirty="0"/>
                        <a:t>A Survey of Credit Card Fraud Detection Techniques: Data and Technique Oriented Perspective.</a:t>
                      </a:r>
                      <a:endParaRPr lang="en-US" sz="800" dirty="0">
                        <a:latin typeface="Times New Roman" panose="02020603050405020304" pitchFamily="18" charset="0"/>
                        <a:ea typeface="Calibri"/>
                        <a:cs typeface="Times New Roman" panose="02020603050405020304" pitchFamily="18" charset="0"/>
                      </a:endParaRPr>
                    </a:p>
                  </a:txBody>
                  <a:tcPr marL="48141" marR="4814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de-DE" sz="800" dirty="0">
                          <a:latin typeface="Times New Roman" panose="02020603050405020304" pitchFamily="18" charset="0"/>
                          <a:cs typeface="Times New Roman" panose="02020603050405020304" pitchFamily="18" charset="0"/>
                        </a:rPr>
                        <a:t>Heinrich F., Joeres F., Lawonn K.</a:t>
                      </a:r>
                      <a:endParaRPr lang="en-US" sz="800" dirty="0">
                        <a:latin typeface="Times New Roman" panose="02020603050405020304" pitchFamily="18" charset="0"/>
                        <a:ea typeface="Calibri"/>
                        <a:cs typeface="Times New Roman" panose="02020603050405020304" pitchFamily="18" charset="0"/>
                      </a:endParaRPr>
                    </a:p>
                  </a:txBody>
                  <a:tcPr marL="48141" marR="4814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700" dirty="0">
                          <a:latin typeface="Times New Roman" panose="02020603050405020304" pitchFamily="18" charset="0"/>
                          <a:ea typeface="Bookman Old Style"/>
                          <a:cs typeface="Times New Roman" panose="02020603050405020304" pitchFamily="18" charset="0"/>
                        </a:rPr>
                        <a:t>221</a:t>
                      </a:r>
                      <a:endParaRPr lang="en-US" sz="800" dirty="0">
                        <a:latin typeface="Times New Roman" panose="02020603050405020304" pitchFamily="18" charset="0"/>
                        <a:ea typeface="Calibri"/>
                        <a:cs typeface="Times New Roman" panose="02020603050405020304" pitchFamily="18" charset="0"/>
                      </a:endParaRPr>
                    </a:p>
                  </a:txBody>
                  <a:tcPr marL="48141" marR="4814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fr-FR" sz="800" dirty="0">
                          <a:latin typeface="Times New Roman" panose="02020603050405020304" pitchFamily="18" charset="0"/>
                          <a:cs typeface="Times New Roman" panose="02020603050405020304" pitchFamily="18" charset="0"/>
                        </a:rPr>
                        <a:t>IEEE Trans. Vis. Comput. Graphics</a:t>
                      </a:r>
                      <a:endParaRPr lang="en-US" sz="800" dirty="0">
                        <a:latin typeface="Times New Roman" panose="02020603050405020304" pitchFamily="18" charset="0"/>
                        <a:ea typeface="Calibri"/>
                        <a:cs typeface="Times New Roman" panose="02020603050405020304" pitchFamily="18" charset="0"/>
                      </a:endParaRPr>
                    </a:p>
                  </a:txBody>
                  <a:tcPr marL="48141" marR="4814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800" dirty="0"/>
                        <a:t>Random Forest It uses bagging and ensemble learning as a result it reduces over fitting and improves the accuracy of a model. It is complex in nature. </a:t>
                      </a:r>
                      <a:endParaRPr lang="en-US" sz="800" dirty="0">
                        <a:latin typeface="Times New Roman" panose="02020603050405020304" pitchFamily="18" charset="0"/>
                        <a:ea typeface="Calibri"/>
                        <a:cs typeface="Times New Roman" panose="02020603050405020304" pitchFamily="18" charset="0"/>
                      </a:endParaRPr>
                    </a:p>
                  </a:txBody>
                  <a:tcPr marL="48141" marR="4814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540510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p:cTn id="13" dur="500" fill="hold"/>
                                        <p:tgtEl>
                                          <p:spTgt spid="9"/>
                                        </p:tgtEl>
                                        <p:attrNameLst>
                                          <p:attrName>ppt_w</p:attrName>
                                        </p:attrNameLst>
                                      </p:cBhvr>
                                      <p:tavLst>
                                        <p:tav tm="0">
                                          <p:val>
                                            <p:fltVal val="0"/>
                                          </p:val>
                                        </p:tav>
                                        <p:tav tm="100000">
                                          <p:val>
                                            <p:strVal val="#ppt_w"/>
                                          </p:val>
                                        </p:tav>
                                      </p:tavLst>
                                    </p:anim>
                                    <p:anim calcmode="lin" valueType="num">
                                      <p:cBhvr>
                                        <p:cTn id="14" dur="500" fill="hold"/>
                                        <p:tgtEl>
                                          <p:spTgt spid="9"/>
                                        </p:tgtEl>
                                        <p:attrNameLst>
                                          <p:attrName>ppt_h</p:attrName>
                                        </p:attrNameLst>
                                      </p:cBhvr>
                                      <p:tavLst>
                                        <p:tav tm="0">
                                          <p:val>
                                            <p:fltVal val="0"/>
                                          </p:val>
                                        </p:tav>
                                        <p:tav tm="100000">
                                          <p:val>
                                            <p:strVal val="#ppt_h"/>
                                          </p:val>
                                        </p:tav>
                                      </p:tavLst>
                                    </p:anim>
                                    <p:animEffect transition="in" filter="fade">
                                      <p:cBhvr>
                                        <p:cTn id="1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9DDB5-2DF9-01D4-9015-DE8F8E4612F0}"/>
              </a:ext>
            </a:extLst>
          </p:cNvPr>
          <p:cNvSpPr>
            <a:spLocks noGrp="1"/>
          </p:cNvSpPr>
          <p:nvPr>
            <p:ph type="title"/>
          </p:nvPr>
        </p:nvSpPr>
        <p:spPr/>
        <p:txBody>
          <a:bodyPr/>
          <a:lstStyle/>
          <a:p>
            <a:r>
              <a:rPr lang="en-US" b="1" u="sng" dirty="0">
                <a:solidFill>
                  <a:srgbClr val="B01513"/>
                </a:solidFill>
                <a:latin typeface="Times New Roman" panose="02020603050405020304" pitchFamily="18" charset="0"/>
                <a:cs typeface="Times New Roman" panose="02020603050405020304" pitchFamily="18" charset="0"/>
              </a:rPr>
              <a:t>EXISTING SYSTEM</a:t>
            </a:r>
          </a:p>
        </p:txBody>
      </p:sp>
      <p:sp>
        <p:nvSpPr>
          <p:cNvPr id="3" name="Content Placeholder 2">
            <a:extLst>
              <a:ext uri="{FF2B5EF4-FFF2-40B4-BE49-F238E27FC236}">
                <a16:creationId xmlns:a16="http://schemas.microsoft.com/office/drawing/2014/main" id="{CEEF9721-A001-AC8F-E9FD-FF3CB3AF550C}"/>
              </a:ext>
            </a:extLst>
          </p:cNvPr>
          <p:cNvSpPr>
            <a:spLocks noGrp="1"/>
          </p:cNvSpPr>
          <p:nvPr>
            <p:ph idx="1"/>
          </p:nvPr>
        </p:nvSpPr>
        <p:spPr>
          <a:xfrm>
            <a:off x="749030" y="1361872"/>
            <a:ext cx="9824936" cy="4886527"/>
          </a:xfrm>
        </p:spPr>
        <p:txBody>
          <a:bodyPr/>
          <a:lstStyle/>
          <a:p>
            <a:pPr algn="just"/>
            <a:r>
              <a:rPr lang="en-US" dirty="0"/>
              <a:t>To detect counterfeit transactions, three machine-learning algorithms were presented and implemented. </a:t>
            </a:r>
          </a:p>
          <a:p>
            <a:pPr algn="just"/>
            <a:r>
              <a:rPr lang="en-US" dirty="0"/>
              <a:t>There are many measures used to evaluate the performance of classifiers or predictors, such as the Gradient Boost Classifier, Vector Machine, Random Forest, and Decision Tree. </a:t>
            </a:r>
          </a:p>
          <a:p>
            <a:pPr algn="just"/>
            <a:r>
              <a:rPr lang="en-US" dirty="0"/>
              <a:t>These metrics are either prevalence dependent or prevalence-independent. </a:t>
            </a:r>
          </a:p>
          <a:p>
            <a:pPr algn="just"/>
            <a:r>
              <a:rPr lang="en-US" dirty="0"/>
              <a:t>Furthermore, these techniques are used in credit card fraud detection mechanisms, and the results of these algorithms have been compared. </a:t>
            </a:r>
          </a:p>
        </p:txBody>
      </p:sp>
    </p:spTree>
    <p:extLst>
      <p:ext uri="{BB962C8B-B14F-4D97-AF65-F5344CB8AC3E}">
        <p14:creationId xmlns:p14="http://schemas.microsoft.com/office/powerpoint/2010/main" val="3139788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fill="hold" grpId="0" nodeType="clickEffect">
                                  <p:stCondLst>
                                    <p:cond delay="0"/>
                                  </p:stCondLst>
                                  <p:childTnLst>
                                    <p:animRot by="21600000">
                                      <p:cBhvr>
                                        <p:cTn id="6" dur="2000" fill="hold"/>
                                        <p:tgtEl>
                                          <p:spTgt spid="2"/>
                                        </p:tgtEl>
                                        <p:attrNameLst>
                                          <p:attrName>r</p:attrName>
                                        </p:attrNameLst>
                                      </p:cBhvr>
                                    </p:animRot>
                                  </p:childTnLst>
                                </p:cTn>
                              </p:par>
                            </p:childTnLst>
                          </p:cTn>
                        </p:par>
                      </p:childTnLst>
                    </p:cTn>
                  </p:par>
                  <p:par>
                    <p:cTn id="7" fill="hold">
                      <p:stCondLst>
                        <p:cond delay="indefinite"/>
                      </p:stCondLst>
                      <p:childTnLst>
                        <p:par>
                          <p:cTn id="8" fill="hold">
                            <p:stCondLst>
                              <p:cond delay="0"/>
                            </p:stCondLst>
                            <p:childTnLst>
                              <p:par>
                                <p:cTn id="9" presetID="14" presetClass="entr" presetSubtype="1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randombar(horizontal)">
                                      <p:cBhvr>
                                        <p:cTn id="11" dur="500"/>
                                        <p:tgtEl>
                                          <p:spTgt spid="3">
                                            <p:txEl>
                                              <p:pRg st="0" end="0"/>
                                            </p:txEl>
                                          </p:spTgt>
                                        </p:tgtEl>
                                      </p:cBhvr>
                                    </p:animEffect>
                                  </p:childTnLst>
                                </p:cTn>
                              </p:par>
                              <p:par>
                                <p:cTn id="12" presetID="14" presetClass="entr" presetSubtype="10" fill="hold" nodeType="with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4" dur="500"/>
                                        <p:tgtEl>
                                          <p:spTgt spid="3">
                                            <p:txEl>
                                              <p:pRg st="1" end="1"/>
                                            </p:txEl>
                                          </p:spTgt>
                                        </p:tgtEl>
                                      </p:cBhvr>
                                    </p:animEffect>
                                  </p:childTnLst>
                                </p:cTn>
                              </p:par>
                              <p:par>
                                <p:cTn id="15" presetID="14" presetClass="entr" presetSubtype="1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7" dur="500"/>
                                        <p:tgtEl>
                                          <p:spTgt spid="3">
                                            <p:txEl>
                                              <p:pRg st="2" end="2"/>
                                            </p:txEl>
                                          </p:spTgt>
                                        </p:tgtEl>
                                      </p:cBhvr>
                                    </p:animEffect>
                                  </p:childTnLst>
                                </p:cTn>
                              </p:par>
                              <p:par>
                                <p:cTn id="18" presetID="14" presetClass="entr" presetSubtype="10" fill="hold"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randombar(horizontal)">
                                      <p:cBhvr>
                                        <p:cTn id="20"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03F37E-B8BD-A6AC-902C-EE37A50B651C}"/>
              </a:ext>
            </a:extLst>
          </p:cNvPr>
          <p:cNvSpPr>
            <a:spLocks noGrp="1"/>
          </p:cNvSpPr>
          <p:nvPr>
            <p:ph type="title"/>
          </p:nvPr>
        </p:nvSpPr>
        <p:spPr/>
        <p:txBody>
          <a:bodyPr/>
          <a:lstStyle/>
          <a:p>
            <a:r>
              <a:rPr lang="en-US" b="1" u="sng" dirty="0">
                <a:solidFill>
                  <a:srgbClr val="B01513"/>
                </a:solidFill>
                <a:latin typeface="Times New Roman" panose="02020603050405020304" pitchFamily="18" charset="0"/>
                <a:cs typeface="Times New Roman" panose="02020603050405020304" pitchFamily="18" charset="0"/>
              </a:rPr>
              <a:t>EXISTING SYSTEM DISADVANTAGES</a:t>
            </a:r>
          </a:p>
        </p:txBody>
      </p:sp>
      <p:sp>
        <p:nvSpPr>
          <p:cNvPr id="3" name="Content Placeholder 2">
            <a:extLst>
              <a:ext uri="{FF2B5EF4-FFF2-40B4-BE49-F238E27FC236}">
                <a16:creationId xmlns:a16="http://schemas.microsoft.com/office/drawing/2014/main" id="{4B838A77-D4E0-F741-9888-228C9B05C6ED}"/>
              </a:ext>
            </a:extLst>
          </p:cNvPr>
          <p:cNvSpPr>
            <a:spLocks noGrp="1"/>
          </p:cNvSpPr>
          <p:nvPr>
            <p:ph idx="1"/>
          </p:nvPr>
        </p:nvSpPr>
        <p:spPr>
          <a:xfrm>
            <a:off x="1103312" y="1536970"/>
            <a:ext cx="9538748" cy="4711429"/>
          </a:xfrm>
        </p:spPr>
        <p:txBody>
          <a:bodyPr/>
          <a:lstStyle/>
          <a:p>
            <a:endParaRPr lang="en-US" dirty="0"/>
          </a:p>
          <a:p>
            <a:endParaRPr lang="en-US" dirty="0"/>
          </a:p>
          <a:p>
            <a:r>
              <a:rPr lang="en-US" dirty="0"/>
              <a:t>There are lots of issues that make this procedure tough to implement and one of the biggest problems associated with fraud detection is the lack real-world data to perform experiments on. </a:t>
            </a:r>
          </a:p>
          <a:p>
            <a:r>
              <a:rPr lang="en-US" dirty="0"/>
              <a:t>The reason behind this is the sensitive financial data associated with the fraud that has to be kept confidential for the purpose of customer’s privacy.</a:t>
            </a:r>
          </a:p>
          <a:p>
            <a:r>
              <a:rPr lang="en-US" dirty="0"/>
              <a:t>There should be a proper means to handle the noise. Noise is the errors that is present in the data, for example, incorrect dates.</a:t>
            </a:r>
          </a:p>
          <a:p>
            <a:r>
              <a:rPr lang="en-US" dirty="0"/>
              <a:t>This noise in actual data limits the accuracy of generalization that can be achieved, irrespective of how extensive the training set is.</a:t>
            </a:r>
          </a:p>
        </p:txBody>
      </p:sp>
    </p:spTree>
    <p:extLst>
      <p:ext uri="{BB962C8B-B14F-4D97-AF65-F5344CB8AC3E}">
        <p14:creationId xmlns:p14="http://schemas.microsoft.com/office/powerpoint/2010/main" val="1944683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mph" presetSubtype="0" grpId="0" nodeType="clickEffect">
                                  <p:stCondLst>
                                    <p:cond delay="0"/>
                                  </p:stCondLst>
                                  <p:childTnLst>
                                    <p:set>
                                      <p:cBhvr>
                                        <p:cTn id="6" dur="indefinite"/>
                                        <p:tgtEl>
                                          <p:spTgt spid="2"/>
                                        </p:tgtEl>
                                        <p:attrNameLst>
                                          <p:attrName>style.opacity</p:attrName>
                                        </p:attrNameLst>
                                      </p:cBhvr>
                                      <p:to>
                                        <p:strVal val="0.5"/>
                                      </p:to>
                                    </p:set>
                                    <p:animEffect filter="image" prLst="opacity: 0.5">
                                      <p:cBhvr rctx="IE">
                                        <p:cTn id="7" dur="indefinite"/>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0" presetClass="emph" presetSubtype="0" fill="hold" nodeType="clickEffect">
                                  <p:stCondLst>
                                    <p:cond delay="0"/>
                                  </p:stCondLst>
                                  <p:childTnLst>
                                    <p:animClr clrSpc="hsl" dir="cw">
                                      <p:cBhvr override="childStyle">
                                        <p:cTn id="11" dur="500" fill="hold"/>
                                        <p:tgtEl>
                                          <p:spTgt spid="3">
                                            <p:txEl>
                                              <p:pRg st="2" end="2"/>
                                            </p:txEl>
                                          </p:spTgt>
                                        </p:tgtEl>
                                        <p:attrNameLst>
                                          <p:attrName>style.color</p:attrName>
                                        </p:attrNameLst>
                                      </p:cBhvr>
                                      <p:by>
                                        <p:hsl h="0" s="12549" l="25098"/>
                                      </p:by>
                                    </p:animClr>
                                    <p:animClr clrSpc="hsl" dir="cw">
                                      <p:cBhvr>
                                        <p:cTn id="12" dur="500" fill="hold"/>
                                        <p:tgtEl>
                                          <p:spTgt spid="3">
                                            <p:txEl>
                                              <p:pRg st="2" end="2"/>
                                            </p:txEl>
                                          </p:spTgt>
                                        </p:tgtEl>
                                        <p:attrNameLst>
                                          <p:attrName>fillcolor</p:attrName>
                                        </p:attrNameLst>
                                      </p:cBhvr>
                                      <p:by>
                                        <p:hsl h="0" s="12549" l="25098"/>
                                      </p:by>
                                    </p:animClr>
                                    <p:animClr clrSpc="hsl" dir="cw">
                                      <p:cBhvr>
                                        <p:cTn id="13" dur="500" fill="hold"/>
                                        <p:tgtEl>
                                          <p:spTgt spid="3">
                                            <p:txEl>
                                              <p:pRg st="2" end="2"/>
                                            </p:txEl>
                                          </p:spTgt>
                                        </p:tgtEl>
                                        <p:attrNameLst>
                                          <p:attrName>stroke.color</p:attrName>
                                        </p:attrNameLst>
                                      </p:cBhvr>
                                      <p:by>
                                        <p:hsl h="0" s="12549" l="25098"/>
                                      </p:by>
                                    </p:animClr>
                                    <p:set>
                                      <p:cBhvr>
                                        <p:cTn id="14" dur="500" fill="hold"/>
                                        <p:tgtEl>
                                          <p:spTgt spid="3">
                                            <p:txEl>
                                              <p:pRg st="2" end="2"/>
                                            </p:txEl>
                                          </p:spTgt>
                                        </p:tgtEl>
                                        <p:attrNameLst>
                                          <p:attrName>fill.type</p:attrName>
                                        </p:attrNameLst>
                                      </p:cBhvr>
                                      <p:to>
                                        <p:strVal val="solid"/>
                                      </p:to>
                                    </p:set>
                                  </p:childTnLst>
                                </p:cTn>
                              </p:par>
                              <p:par>
                                <p:cTn id="15" presetID="30" presetClass="emph" presetSubtype="0" fill="hold" nodeType="withEffect">
                                  <p:stCondLst>
                                    <p:cond delay="0"/>
                                  </p:stCondLst>
                                  <p:childTnLst>
                                    <p:animClr clrSpc="hsl" dir="cw">
                                      <p:cBhvr override="childStyle">
                                        <p:cTn id="16" dur="500" fill="hold"/>
                                        <p:tgtEl>
                                          <p:spTgt spid="3">
                                            <p:txEl>
                                              <p:pRg st="3" end="3"/>
                                            </p:txEl>
                                          </p:spTgt>
                                        </p:tgtEl>
                                        <p:attrNameLst>
                                          <p:attrName>style.color</p:attrName>
                                        </p:attrNameLst>
                                      </p:cBhvr>
                                      <p:by>
                                        <p:hsl h="0" s="12549" l="25098"/>
                                      </p:by>
                                    </p:animClr>
                                    <p:animClr clrSpc="hsl" dir="cw">
                                      <p:cBhvr>
                                        <p:cTn id="17" dur="500" fill="hold"/>
                                        <p:tgtEl>
                                          <p:spTgt spid="3">
                                            <p:txEl>
                                              <p:pRg st="3" end="3"/>
                                            </p:txEl>
                                          </p:spTgt>
                                        </p:tgtEl>
                                        <p:attrNameLst>
                                          <p:attrName>fillcolor</p:attrName>
                                        </p:attrNameLst>
                                      </p:cBhvr>
                                      <p:by>
                                        <p:hsl h="0" s="12549" l="25098"/>
                                      </p:by>
                                    </p:animClr>
                                    <p:animClr clrSpc="hsl" dir="cw">
                                      <p:cBhvr>
                                        <p:cTn id="18" dur="500" fill="hold"/>
                                        <p:tgtEl>
                                          <p:spTgt spid="3">
                                            <p:txEl>
                                              <p:pRg st="3" end="3"/>
                                            </p:txEl>
                                          </p:spTgt>
                                        </p:tgtEl>
                                        <p:attrNameLst>
                                          <p:attrName>stroke.color</p:attrName>
                                        </p:attrNameLst>
                                      </p:cBhvr>
                                      <p:by>
                                        <p:hsl h="0" s="12549" l="25098"/>
                                      </p:by>
                                    </p:animClr>
                                    <p:set>
                                      <p:cBhvr>
                                        <p:cTn id="19" dur="500" fill="hold"/>
                                        <p:tgtEl>
                                          <p:spTgt spid="3">
                                            <p:txEl>
                                              <p:pRg st="3" end="3"/>
                                            </p:txEl>
                                          </p:spTgt>
                                        </p:tgtEl>
                                        <p:attrNameLst>
                                          <p:attrName>fill.type</p:attrName>
                                        </p:attrNameLst>
                                      </p:cBhvr>
                                      <p:to>
                                        <p:strVal val="solid"/>
                                      </p:to>
                                    </p:set>
                                  </p:childTnLst>
                                </p:cTn>
                              </p:par>
                              <p:par>
                                <p:cTn id="20" presetID="30" presetClass="emph" presetSubtype="0" fill="hold" nodeType="withEffect">
                                  <p:stCondLst>
                                    <p:cond delay="0"/>
                                  </p:stCondLst>
                                  <p:childTnLst>
                                    <p:animClr clrSpc="hsl" dir="cw">
                                      <p:cBhvr override="childStyle">
                                        <p:cTn id="21" dur="500" fill="hold"/>
                                        <p:tgtEl>
                                          <p:spTgt spid="3">
                                            <p:txEl>
                                              <p:pRg st="4" end="4"/>
                                            </p:txEl>
                                          </p:spTgt>
                                        </p:tgtEl>
                                        <p:attrNameLst>
                                          <p:attrName>style.color</p:attrName>
                                        </p:attrNameLst>
                                      </p:cBhvr>
                                      <p:by>
                                        <p:hsl h="0" s="12549" l="25098"/>
                                      </p:by>
                                    </p:animClr>
                                    <p:animClr clrSpc="hsl" dir="cw">
                                      <p:cBhvr>
                                        <p:cTn id="22" dur="500" fill="hold"/>
                                        <p:tgtEl>
                                          <p:spTgt spid="3">
                                            <p:txEl>
                                              <p:pRg st="4" end="4"/>
                                            </p:txEl>
                                          </p:spTgt>
                                        </p:tgtEl>
                                        <p:attrNameLst>
                                          <p:attrName>fillcolor</p:attrName>
                                        </p:attrNameLst>
                                      </p:cBhvr>
                                      <p:by>
                                        <p:hsl h="0" s="12549" l="25098"/>
                                      </p:by>
                                    </p:animClr>
                                    <p:animClr clrSpc="hsl" dir="cw">
                                      <p:cBhvr>
                                        <p:cTn id="23" dur="500" fill="hold"/>
                                        <p:tgtEl>
                                          <p:spTgt spid="3">
                                            <p:txEl>
                                              <p:pRg st="4" end="4"/>
                                            </p:txEl>
                                          </p:spTgt>
                                        </p:tgtEl>
                                        <p:attrNameLst>
                                          <p:attrName>stroke.color</p:attrName>
                                        </p:attrNameLst>
                                      </p:cBhvr>
                                      <p:by>
                                        <p:hsl h="0" s="12549" l="25098"/>
                                      </p:by>
                                    </p:animClr>
                                    <p:set>
                                      <p:cBhvr>
                                        <p:cTn id="24" dur="500" fill="hold"/>
                                        <p:tgtEl>
                                          <p:spTgt spid="3">
                                            <p:txEl>
                                              <p:pRg st="4" end="4"/>
                                            </p:txEl>
                                          </p:spTgt>
                                        </p:tgtEl>
                                        <p:attrNameLst>
                                          <p:attrName>fill.type</p:attrName>
                                        </p:attrNameLst>
                                      </p:cBhvr>
                                      <p:to>
                                        <p:strVal val="solid"/>
                                      </p:to>
                                    </p:set>
                                  </p:childTnLst>
                                </p:cTn>
                              </p:par>
                              <p:par>
                                <p:cTn id="25" presetID="30" presetClass="emph" presetSubtype="0" fill="hold" nodeType="withEffect">
                                  <p:stCondLst>
                                    <p:cond delay="0"/>
                                  </p:stCondLst>
                                  <p:childTnLst>
                                    <p:animClr clrSpc="hsl" dir="cw">
                                      <p:cBhvr override="childStyle">
                                        <p:cTn id="26" dur="500" fill="hold"/>
                                        <p:tgtEl>
                                          <p:spTgt spid="3">
                                            <p:txEl>
                                              <p:pRg st="5" end="5"/>
                                            </p:txEl>
                                          </p:spTgt>
                                        </p:tgtEl>
                                        <p:attrNameLst>
                                          <p:attrName>style.color</p:attrName>
                                        </p:attrNameLst>
                                      </p:cBhvr>
                                      <p:by>
                                        <p:hsl h="0" s="12549" l="25098"/>
                                      </p:by>
                                    </p:animClr>
                                    <p:animClr clrSpc="hsl" dir="cw">
                                      <p:cBhvr>
                                        <p:cTn id="27" dur="500" fill="hold"/>
                                        <p:tgtEl>
                                          <p:spTgt spid="3">
                                            <p:txEl>
                                              <p:pRg st="5" end="5"/>
                                            </p:txEl>
                                          </p:spTgt>
                                        </p:tgtEl>
                                        <p:attrNameLst>
                                          <p:attrName>fillcolor</p:attrName>
                                        </p:attrNameLst>
                                      </p:cBhvr>
                                      <p:by>
                                        <p:hsl h="0" s="12549" l="25098"/>
                                      </p:by>
                                    </p:animClr>
                                    <p:animClr clrSpc="hsl" dir="cw">
                                      <p:cBhvr>
                                        <p:cTn id="28" dur="500" fill="hold"/>
                                        <p:tgtEl>
                                          <p:spTgt spid="3">
                                            <p:txEl>
                                              <p:pRg st="5" end="5"/>
                                            </p:txEl>
                                          </p:spTgt>
                                        </p:tgtEl>
                                        <p:attrNameLst>
                                          <p:attrName>stroke.color</p:attrName>
                                        </p:attrNameLst>
                                      </p:cBhvr>
                                      <p:by>
                                        <p:hsl h="0" s="12549" l="25098"/>
                                      </p:by>
                                    </p:animClr>
                                    <p:set>
                                      <p:cBhvr>
                                        <p:cTn id="29" dur="500" fill="hold"/>
                                        <p:tgtEl>
                                          <p:spTgt spid="3">
                                            <p:txEl>
                                              <p:pRg st="5" end="5"/>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E70821-51E6-F904-CB63-02AD197B46C2}"/>
              </a:ext>
            </a:extLst>
          </p:cNvPr>
          <p:cNvSpPr>
            <a:spLocks noGrp="1"/>
          </p:cNvSpPr>
          <p:nvPr>
            <p:ph type="title"/>
          </p:nvPr>
        </p:nvSpPr>
        <p:spPr/>
        <p:txBody>
          <a:bodyPr/>
          <a:lstStyle/>
          <a:p>
            <a:r>
              <a:rPr lang="en-US" b="1" u="sng" dirty="0">
                <a:solidFill>
                  <a:srgbClr val="B01513"/>
                </a:solidFill>
                <a:latin typeface="Times New Roman" panose="02020603050405020304" pitchFamily="18" charset="0"/>
                <a:cs typeface="Times New Roman" panose="02020603050405020304" pitchFamily="18" charset="0"/>
              </a:rPr>
              <a:t>PROPOSED SYSTEM</a:t>
            </a:r>
          </a:p>
        </p:txBody>
      </p:sp>
      <p:sp>
        <p:nvSpPr>
          <p:cNvPr id="3" name="Content Placeholder 2">
            <a:extLst>
              <a:ext uri="{FF2B5EF4-FFF2-40B4-BE49-F238E27FC236}">
                <a16:creationId xmlns:a16="http://schemas.microsoft.com/office/drawing/2014/main" id="{A49EFDB7-4216-D36A-9AE4-47A1DEBD081B}"/>
              </a:ext>
            </a:extLst>
          </p:cNvPr>
          <p:cNvSpPr>
            <a:spLocks noGrp="1"/>
          </p:cNvSpPr>
          <p:nvPr>
            <p:ph idx="1"/>
          </p:nvPr>
        </p:nvSpPr>
        <p:spPr>
          <a:xfrm>
            <a:off x="646112" y="1245140"/>
            <a:ext cx="9665208" cy="5160142"/>
          </a:xfrm>
        </p:spPr>
        <p:txBody>
          <a:bodyPr/>
          <a:lstStyle/>
          <a:p>
            <a:pPr algn="just"/>
            <a:r>
              <a:rPr lang="en-US" dirty="0"/>
              <a:t>Various modern techniques like artificial neural network </a:t>
            </a:r>
          </a:p>
          <a:p>
            <a:pPr algn="just"/>
            <a:r>
              <a:rPr lang="en-US" dirty="0"/>
              <a:t>Different machine learning algorithms are compared, including Auto Encoder, Local Outlier Factor, K means Clustering.</a:t>
            </a:r>
          </a:p>
          <a:p>
            <a:pPr algn="just"/>
            <a:r>
              <a:rPr lang="en-US" dirty="0"/>
              <a:t>This project uses various algorithm, and Deep neural network, RNN which comprises of techniques for finding optimal solution for the problem and implicitly generating the result of the fraudulent transaction.</a:t>
            </a:r>
          </a:p>
          <a:p>
            <a:pPr algn="just"/>
            <a:r>
              <a:rPr lang="en-US" dirty="0"/>
              <a:t> The main aim is to detect the fraudulent transaction and to develop a method of generating test data.</a:t>
            </a:r>
          </a:p>
          <a:p>
            <a:pPr algn="just"/>
            <a:r>
              <a:rPr lang="en-US" dirty="0"/>
              <a:t> This algorithm is a heuristic approach used to solve high complexity computational problems. </a:t>
            </a:r>
          </a:p>
          <a:p>
            <a:pPr algn="just"/>
            <a:r>
              <a:rPr lang="en-US" dirty="0"/>
              <a:t>The implementation of an efficient fraud detection system is imperative for all credit card issuing companies and their clients to minimize their losses. </a:t>
            </a:r>
          </a:p>
        </p:txBody>
      </p:sp>
    </p:spTree>
    <p:extLst>
      <p:ext uri="{BB962C8B-B14F-4D97-AF65-F5344CB8AC3E}">
        <p14:creationId xmlns:p14="http://schemas.microsoft.com/office/powerpoint/2010/main" val="2964642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9" presetClass="emph" presetSubtype="0" fill="hold" nodeType="clickEffect">
                                  <p:stCondLst>
                                    <p:cond delay="0"/>
                                  </p:stCondLst>
                                  <p:childTnLst>
                                    <p:animClr clrSpc="rgb" dir="cw">
                                      <p:cBhvr override="childStyle">
                                        <p:cTn id="11" dur="500" fill="hold"/>
                                        <p:tgtEl>
                                          <p:spTgt spid="3">
                                            <p:txEl>
                                              <p:pRg st="0" end="0"/>
                                            </p:txEl>
                                          </p:spTgt>
                                        </p:tgtEl>
                                        <p:attrNameLst>
                                          <p:attrName>style.color</p:attrName>
                                        </p:attrNameLst>
                                      </p:cBhvr>
                                      <p:to>
                                        <a:srgbClr val="54849A"/>
                                      </p:to>
                                    </p:animClr>
                                    <p:animClr clrSpc="rgb" dir="cw">
                                      <p:cBhvr>
                                        <p:cTn id="12" dur="500" fill="hold"/>
                                        <p:tgtEl>
                                          <p:spTgt spid="3">
                                            <p:txEl>
                                              <p:pRg st="0" end="0"/>
                                            </p:txEl>
                                          </p:spTgt>
                                        </p:tgtEl>
                                        <p:attrNameLst>
                                          <p:attrName>fillcolor</p:attrName>
                                        </p:attrNameLst>
                                      </p:cBhvr>
                                      <p:to>
                                        <a:srgbClr val="54849A"/>
                                      </p:to>
                                    </p:animClr>
                                    <p:set>
                                      <p:cBhvr>
                                        <p:cTn id="13" dur="500" fill="hold"/>
                                        <p:tgtEl>
                                          <p:spTgt spid="3">
                                            <p:txEl>
                                              <p:pRg st="0" end="0"/>
                                            </p:txEl>
                                          </p:spTgt>
                                        </p:tgtEl>
                                        <p:attrNameLst>
                                          <p:attrName>fill.type</p:attrName>
                                        </p:attrNameLst>
                                      </p:cBhvr>
                                      <p:to>
                                        <p:strVal val="solid"/>
                                      </p:to>
                                    </p:set>
                                    <p:set>
                                      <p:cBhvr>
                                        <p:cTn id="14" dur="500" fill="hold"/>
                                        <p:tgtEl>
                                          <p:spTgt spid="3">
                                            <p:txEl>
                                              <p:pRg st="0" end="0"/>
                                            </p:txEl>
                                          </p:spTgt>
                                        </p:tgtEl>
                                        <p:attrNameLst>
                                          <p:attrName>fill.on</p:attrName>
                                        </p:attrNameLst>
                                      </p:cBhvr>
                                      <p:to>
                                        <p:strVal val="true"/>
                                      </p:to>
                                    </p:set>
                                  </p:childTnLst>
                                </p:cTn>
                              </p:par>
                              <p:par>
                                <p:cTn id="15" presetID="19" presetClass="emph" presetSubtype="0" fill="hold" nodeType="withEffect">
                                  <p:stCondLst>
                                    <p:cond delay="0"/>
                                  </p:stCondLst>
                                  <p:childTnLst>
                                    <p:animClr clrSpc="rgb" dir="cw">
                                      <p:cBhvr override="childStyle">
                                        <p:cTn id="16" dur="500" fill="hold"/>
                                        <p:tgtEl>
                                          <p:spTgt spid="3">
                                            <p:txEl>
                                              <p:pRg st="1" end="1"/>
                                            </p:txEl>
                                          </p:spTgt>
                                        </p:tgtEl>
                                        <p:attrNameLst>
                                          <p:attrName>style.color</p:attrName>
                                        </p:attrNameLst>
                                      </p:cBhvr>
                                      <p:to>
                                        <a:srgbClr val="54849A"/>
                                      </p:to>
                                    </p:animClr>
                                    <p:animClr clrSpc="rgb" dir="cw">
                                      <p:cBhvr>
                                        <p:cTn id="17" dur="500" fill="hold"/>
                                        <p:tgtEl>
                                          <p:spTgt spid="3">
                                            <p:txEl>
                                              <p:pRg st="1" end="1"/>
                                            </p:txEl>
                                          </p:spTgt>
                                        </p:tgtEl>
                                        <p:attrNameLst>
                                          <p:attrName>fillcolor</p:attrName>
                                        </p:attrNameLst>
                                      </p:cBhvr>
                                      <p:to>
                                        <a:srgbClr val="54849A"/>
                                      </p:to>
                                    </p:animClr>
                                    <p:set>
                                      <p:cBhvr>
                                        <p:cTn id="18" dur="500" fill="hold"/>
                                        <p:tgtEl>
                                          <p:spTgt spid="3">
                                            <p:txEl>
                                              <p:pRg st="1" end="1"/>
                                            </p:txEl>
                                          </p:spTgt>
                                        </p:tgtEl>
                                        <p:attrNameLst>
                                          <p:attrName>fill.type</p:attrName>
                                        </p:attrNameLst>
                                      </p:cBhvr>
                                      <p:to>
                                        <p:strVal val="solid"/>
                                      </p:to>
                                    </p:set>
                                    <p:set>
                                      <p:cBhvr>
                                        <p:cTn id="19" dur="500" fill="hold"/>
                                        <p:tgtEl>
                                          <p:spTgt spid="3">
                                            <p:txEl>
                                              <p:pRg st="1" end="1"/>
                                            </p:txEl>
                                          </p:spTgt>
                                        </p:tgtEl>
                                        <p:attrNameLst>
                                          <p:attrName>fill.on</p:attrName>
                                        </p:attrNameLst>
                                      </p:cBhvr>
                                      <p:to>
                                        <p:strVal val="true"/>
                                      </p:to>
                                    </p:set>
                                  </p:childTnLst>
                                </p:cTn>
                              </p:par>
                              <p:par>
                                <p:cTn id="20" presetID="19" presetClass="emph" presetSubtype="0" fill="hold" nodeType="withEffect">
                                  <p:stCondLst>
                                    <p:cond delay="0"/>
                                  </p:stCondLst>
                                  <p:childTnLst>
                                    <p:animClr clrSpc="rgb" dir="cw">
                                      <p:cBhvr override="childStyle">
                                        <p:cTn id="21" dur="500" fill="hold"/>
                                        <p:tgtEl>
                                          <p:spTgt spid="3">
                                            <p:txEl>
                                              <p:pRg st="2" end="2"/>
                                            </p:txEl>
                                          </p:spTgt>
                                        </p:tgtEl>
                                        <p:attrNameLst>
                                          <p:attrName>style.color</p:attrName>
                                        </p:attrNameLst>
                                      </p:cBhvr>
                                      <p:to>
                                        <a:srgbClr val="54849A"/>
                                      </p:to>
                                    </p:animClr>
                                    <p:animClr clrSpc="rgb" dir="cw">
                                      <p:cBhvr>
                                        <p:cTn id="22" dur="500" fill="hold"/>
                                        <p:tgtEl>
                                          <p:spTgt spid="3">
                                            <p:txEl>
                                              <p:pRg st="2" end="2"/>
                                            </p:txEl>
                                          </p:spTgt>
                                        </p:tgtEl>
                                        <p:attrNameLst>
                                          <p:attrName>fillcolor</p:attrName>
                                        </p:attrNameLst>
                                      </p:cBhvr>
                                      <p:to>
                                        <a:srgbClr val="54849A"/>
                                      </p:to>
                                    </p:animClr>
                                    <p:set>
                                      <p:cBhvr>
                                        <p:cTn id="23" dur="500" fill="hold"/>
                                        <p:tgtEl>
                                          <p:spTgt spid="3">
                                            <p:txEl>
                                              <p:pRg st="2" end="2"/>
                                            </p:txEl>
                                          </p:spTgt>
                                        </p:tgtEl>
                                        <p:attrNameLst>
                                          <p:attrName>fill.type</p:attrName>
                                        </p:attrNameLst>
                                      </p:cBhvr>
                                      <p:to>
                                        <p:strVal val="solid"/>
                                      </p:to>
                                    </p:set>
                                    <p:set>
                                      <p:cBhvr>
                                        <p:cTn id="24" dur="500" fill="hold"/>
                                        <p:tgtEl>
                                          <p:spTgt spid="3">
                                            <p:txEl>
                                              <p:pRg st="2" end="2"/>
                                            </p:txEl>
                                          </p:spTgt>
                                        </p:tgtEl>
                                        <p:attrNameLst>
                                          <p:attrName>fill.on</p:attrName>
                                        </p:attrNameLst>
                                      </p:cBhvr>
                                      <p:to>
                                        <p:strVal val="true"/>
                                      </p:to>
                                    </p:set>
                                  </p:childTnLst>
                                </p:cTn>
                              </p:par>
                              <p:par>
                                <p:cTn id="25" presetID="19" presetClass="emph" presetSubtype="0" fill="hold" nodeType="withEffect">
                                  <p:stCondLst>
                                    <p:cond delay="0"/>
                                  </p:stCondLst>
                                  <p:childTnLst>
                                    <p:animClr clrSpc="rgb" dir="cw">
                                      <p:cBhvr override="childStyle">
                                        <p:cTn id="26" dur="500" fill="hold"/>
                                        <p:tgtEl>
                                          <p:spTgt spid="3">
                                            <p:txEl>
                                              <p:pRg st="3" end="3"/>
                                            </p:txEl>
                                          </p:spTgt>
                                        </p:tgtEl>
                                        <p:attrNameLst>
                                          <p:attrName>style.color</p:attrName>
                                        </p:attrNameLst>
                                      </p:cBhvr>
                                      <p:to>
                                        <a:srgbClr val="54849A"/>
                                      </p:to>
                                    </p:animClr>
                                    <p:animClr clrSpc="rgb" dir="cw">
                                      <p:cBhvr>
                                        <p:cTn id="27" dur="500" fill="hold"/>
                                        <p:tgtEl>
                                          <p:spTgt spid="3">
                                            <p:txEl>
                                              <p:pRg st="3" end="3"/>
                                            </p:txEl>
                                          </p:spTgt>
                                        </p:tgtEl>
                                        <p:attrNameLst>
                                          <p:attrName>fillcolor</p:attrName>
                                        </p:attrNameLst>
                                      </p:cBhvr>
                                      <p:to>
                                        <a:srgbClr val="54849A"/>
                                      </p:to>
                                    </p:animClr>
                                    <p:set>
                                      <p:cBhvr>
                                        <p:cTn id="28" dur="500" fill="hold"/>
                                        <p:tgtEl>
                                          <p:spTgt spid="3">
                                            <p:txEl>
                                              <p:pRg st="3" end="3"/>
                                            </p:txEl>
                                          </p:spTgt>
                                        </p:tgtEl>
                                        <p:attrNameLst>
                                          <p:attrName>fill.type</p:attrName>
                                        </p:attrNameLst>
                                      </p:cBhvr>
                                      <p:to>
                                        <p:strVal val="solid"/>
                                      </p:to>
                                    </p:set>
                                    <p:set>
                                      <p:cBhvr>
                                        <p:cTn id="29" dur="500" fill="hold"/>
                                        <p:tgtEl>
                                          <p:spTgt spid="3">
                                            <p:txEl>
                                              <p:pRg st="3" end="3"/>
                                            </p:txEl>
                                          </p:spTgt>
                                        </p:tgtEl>
                                        <p:attrNameLst>
                                          <p:attrName>fill.on</p:attrName>
                                        </p:attrNameLst>
                                      </p:cBhvr>
                                      <p:to>
                                        <p:strVal val="true"/>
                                      </p:to>
                                    </p:set>
                                  </p:childTnLst>
                                </p:cTn>
                              </p:par>
                              <p:par>
                                <p:cTn id="30" presetID="19" presetClass="emph" presetSubtype="0" fill="hold" nodeType="withEffect">
                                  <p:stCondLst>
                                    <p:cond delay="0"/>
                                  </p:stCondLst>
                                  <p:childTnLst>
                                    <p:animClr clrSpc="rgb" dir="cw">
                                      <p:cBhvr override="childStyle">
                                        <p:cTn id="31" dur="500" fill="hold"/>
                                        <p:tgtEl>
                                          <p:spTgt spid="3">
                                            <p:txEl>
                                              <p:pRg st="4" end="4"/>
                                            </p:txEl>
                                          </p:spTgt>
                                        </p:tgtEl>
                                        <p:attrNameLst>
                                          <p:attrName>style.color</p:attrName>
                                        </p:attrNameLst>
                                      </p:cBhvr>
                                      <p:to>
                                        <a:srgbClr val="54849A"/>
                                      </p:to>
                                    </p:animClr>
                                    <p:animClr clrSpc="rgb" dir="cw">
                                      <p:cBhvr>
                                        <p:cTn id="32" dur="500" fill="hold"/>
                                        <p:tgtEl>
                                          <p:spTgt spid="3">
                                            <p:txEl>
                                              <p:pRg st="4" end="4"/>
                                            </p:txEl>
                                          </p:spTgt>
                                        </p:tgtEl>
                                        <p:attrNameLst>
                                          <p:attrName>fillcolor</p:attrName>
                                        </p:attrNameLst>
                                      </p:cBhvr>
                                      <p:to>
                                        <a:srgbClr val="54849A"/>
                                      </p:to>
                                    </p:animClr>
                                    <p:set>
                                      <p:cBhvr>
                                        <p:cTn id="33" dur="500" fill="hold"/>
                                        <p:tgtEl>
                                          <p:spTgt spid="3">
                                            <p:txEl>
                                              <p:pRg st="4" end="4"/>
                                            </p:txEl>
                                          </p:spTgt>
                                        </p:tgtEl>
                                        <p:attrNameLst>
                                          <p:attrName>fill.type</p:attrName>
                                        </p:attrNameLst>
                                      </p:cBhvr>
                                      <p:to>
                                        <p:strVal val="solid"/>
                                      </p:to>
                                    </p:set>
                                    <p:set>
                                      <p:cBhvr>
                                        <p:cTn id="34" dur="500" fill="hold"/>
                                        <p:tgtEl>
                                          <p:spTgt spid="3">
                                            <p:txEl>
                                              <p:pRg st="4" end="4"/>
                                            </p:txEl>
                                          </p:spTgt>
                                        </p:tgtEl>
                                        <p:attrNameLst>
                                          <p:attrName>fill.on</p:attrName>
                                        </p:attrNameLst>
                                      </p:cBhvr>
                                      <p:to>
                                        <p:strVal val="true"/>
                                      </p:to>
                                    </p:set>
                                  </p:childTnLst>
                                </p:cTn>
                              </p:par>
                              <p:par>
                                <p:cTn id="35" presetID="19" presetClass="emph" presetSubtype="0" fill="hold" nodeType="withEffect">
                                  <p:stCondLst>
                                    <p:cond delay="0"/>
                                  </p:stCondLst>
                                  <p:childTnLst>
                                    <p:animClr clrSpc="rgb" dir="cw">
                                      <p:cBhvr override="childStyle">
                                        <p:cTn id="36" dur="500" fill="hold"/>
                                        <p:tgtEl>
                                          <p:spTgt spid="3">
                                            <p:txEl>
                                              <p:pRg st="5" end="5"/>
                                            </p:txEl>
                                          </p:spTgt>
                                        </p:tgtEl>
                                        <p:attrNameLst>
                                          <p:attrName>style.color</p:attrName>
                                        </p:attrNameLst>
                                      </p:cBhvr>
                                      <p:to>
                                        <a:srgbClr val="54849A"/>
                                      </p:to>
                                    </p:animClr>
                                    <p:animClr clrSpc="rgb" dir="cw">
                                      <p:cBhvr>
                                        <p:cTn id="37" dur="500" fill="hold"/>
                                        <p:tgtEl>
                                          <p:spTgt spid="3">
                                            <p:txEl>
                                              <p:pRg st="5" end="5"/>
                                            </p:txEl>
                                          </p:spTgt>
                                        </p:tgtEl>
                                        <p:attrNameLst>
                                          <p:attrName>fillcolor</p:attrName>
                                        </p:attrNameLst>
                                      </p:cBhvr>
                                      <p:to>
                                        <a:srgbClr val="54849A"/>
                                      </p:to>
                                    </p:animClr>
                                    <p:set>
                                      <p:cBhvr>
                                        <p:cTn id="38" dur="500" fill="hold"/>
                                        <p:tgtEl>
                                          <p:spTgt spid="3">
                                            <p:txEl>
                                              <p:pRg st="5" end="5"/>
                                            </p:txEl>
                                          </p:spTgt>
                                        </p:tgtEl>
                                        <p:attrNameLst>
                                          <p:attrName>fill.type</p:attrName>
                                        </p:attrNameLst>
                                      </p:cBhvr>
                                      <p:to>
                                        <p:strVal val="solid"/>
                                      </p:to>
                                    </p:set>
                                    <p:set>
                                      <p:cBhvr>
                                        <p:cTn id="39" dur="500" fill="hold"/>
                                        <p:tgtEl>
                                          <p:spTgt spid="3">
                                            <p:txEl>
                                              <p:pRg st="5" end="5"/>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B2B6C7-7395-476E-4422-D0213893FF31}"/>
              </a:ext>
            </a:extLst>
          </p:cNvPr>
          <p:cNvSpPr>
            <a:spLocks noGrp="1"/>
          </p:cNvSpPr>
          <p:nvPr>
            <p:ph type="title"/>
          </p:nvPr>
        </p:nvSpPr>
        <p:spPr/>
        <p:txBody>
          <a:bodyPr/>
          <a:lstStyle/>
          <a:p>
            <a:r>
              <a:rPr lang="en-US" b="1" u="sng" dirty="0">
                <a:solidFill>
                  <a:srgbClr val="B01513"/>
                </a:solidFill>
                <a:latin typeface="Times New Roman" panose="02020603050405020304" pitchFamily="18" charset="0"/>
                <a:cs typeface="Times New Roman" panose="02020603050405020304" pitchFamily="18" charset="0"/>
              </a:rPr>
              <a:t>PROPOSED SYSTEM ADVANATAGES</a:t>
            </a:r>
          </a:p>
        </p:txBody>
      </p:sp>
      <p:sp>
        <p:nvSpPr>
          <p:cNvPr id="3" name="Content Placeholder 2">
            <a:extLst>
              <a:ext uri="{FF2B5EF4-FFF2-40B4-BE49-F238E27FC236}">
                <a16:creationId xmlns:a16="http://schemas.microsoft.com/office/drawing/2014/main" id="{9EC00EC7-331A-306E-10B9-9BCD2859FF0D}"/>
              </a:ext>
            </a:extLst>
          </p:cNvPr>
          <p:cNvSpPr>
            <a:spLocks noGrp="1"/>
          </p:cNvSpPr>
          <p:nvPr>
            <p:ph idx="1"/>
          </p:nvPr>
        </p:nvSpPr>
        <p:spPr/>
        <p:txBody>
          <a:bodyPr/>
          <a:lstStyle/>
          <a:p>
            <a:pPr algn="just">
              <a:buFont typeface="Arial" panose="020B0604020202020204" pitchFamily="34" charset="0"/>
              <a:buChar char="•"/>
            </a:pPr>
            <a:endParaRPr lang="en-US" sz="2000" b="0" i="0" dirty="0">
              <a:effectLst/>
              <a:latin typeface="Times New Roman" panose="02020603050405020304" pitchFamily="18" charset="0"/>
            </a:endParaRPr>
          </a:p>
          <a:p>
            <a:pPr algn="just">
              <a:buFont typeface="Arial" panose="020B0604020202020204" pitchFamily="34" charset="0"/>
              <a:buChar char="•"/>
            </a:pPr>
            <a:r>
              <a:rPr lang="en-US" sz="2000" b="0" i="0" dirty="0">
                <a:effectLst/>
                <a:latin typeface="Times New Roman" panose="02020603050405020304" pitchFamily="18" charset="0"/>
              </a:rPr>
              <a:t>Easy to understand and implement.</a:t>
            </a:r>
            <a:endParaRPr lang="en-US" sz="2000" b="0" i="0" dirty="0">
              <a:effectLst/>
              <a:latin typeface="Roboto"/>
            </a:endParaRPr>
          </a:p>
          <a:p>
            <a:pPr algn="just">
              <a:buFont typeface="Arial" panose="020B0604020202020204" pitchFamily="34" charset="0"/>
              <a:buChar char="•"/>
            </a:pPr>
            <a:r>
              <a:rPr lang="en-US" sz="2000" b="0" i="0" dirty="0">
                <a:effectLst/>
                <a:latin typeface="Times New Roman" panose="02020603050405020304" pitchFamily="18" charset="0"/>
              </a:rPr>
              <a:t>Efficient use of computational resources.</a:t>
            </a:r>
            <a:endParaRPr lang="en-US" sz="2000" b="0" i="0" dirty="0">
              <a:effectLst/>
              <a:latin typeface="Roboto"/>
            </a:endParaRPr>
          </a:p>
          <a:p>
            <a:pPr algn="just">
              <a:buFont typeface="Arial" panose="020B0604020202020204" pitchFamily="34" charset="0"/>
              <a:buChar char="•"/>
            </a:pPr>
            <a:r>
              <a:rPr lang="en-US" sz="2000" b="0" i="0" dirty="0">
                <a:effectLst/>
                <a:latin typeface="Times New Roman" panose="02020603050405020304" pitchFamily="18" charset="0"/>
              </a:rPr>
              <a:t>Require low computational power.</a:t>
            </a:r>
            <a:endParaRPr lang="en-US" sz="2000" b="0" i="0" dirty="0">
              <a:effectLst/>
              <a:latin typeface="Roboto"/>
            </a:endParaRPr>
          </a:p>
          <a:p>
            <a:pPr algn="just">
              <a:buFont typeface="Arial" panose="020B0604020202020204" pitchFamily="34" charset="0"/>
              <a:buChar char="•"/>
            </a:pPr>
            <a:r>
              <a:rPr lang="en-US" sz="2000" b="0" i="0" dirty="0">
                <a:effectLst/>
                <a:latin typeface="Times New Roman" panose="02020603050405020304" pitchFamily="18" charset="0"/>
              </a:rPr>
              <a:t>Provide optimal results.</a:t>
            </a:r>
            <a:endParaRPr lang="en-US" sz="2000" b="0" i="0" dirty="0">
              <a:effectLst/>
              <a:latin typeface="Roboto"/>
            </a:endParaRPr>
          </a:p>
        </p:txBody>
      </p:sp>
    </p:spTree>
    <p:extLst>
      <p:ext uri="{BB962C8B-B14F-4D97-AF65-F5344CB8AC3E}">
        <p14:creationId xmlns:p14="http://schemas.microsoft.com/office/powerpoint/2010/main" val="2110725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mph" presetSubtype="0" grpId="0" nodeType="clickEffect">
                                  <p:stCondLst>
                                    <p:cond delay="0"/>
                                  </p:stCondLst>
                                  <p:iterate type="lt">
                                    <p:tmAbs val="25"/>
                                  </p:iterate>
                                  <p:childTnLst>
                                    <p:set>
                                      <p:cBhvr override="childStyle">
                                        <p:cTn id="6" dur="indefinite"/>
                                        <p:tgtEl>
                                          <p:spTgt spid="2"/>
                                        </p:tgtEl>
                                        <p:attrNameLst>
                                          <p:attrName>style.fontWeight</p:attrName>
                                        </p:attrNameLst>
                                      </p:cBhvr>
                                      <p:to>
                                        <p:strVal val="bold"/>
                                      </p:to>
                                    </p:set>
                                  </p:childTnLst>
                                </p:cTn>
                              </p:par>
                            </p:childTnLst>
                          </p:cTn>
                        </p:par>
                      </p:childTnLst>
                    </p:cTn>
                  </p:par>
                  <p:par>
                    <p:cTn id="7" fill="hold">
                      <p:stCondLst>
                        <p:cond delay="indefinite"/>
                      </p:stCondLst>
                      <p:childTnLst>
                        <p:par>
                          <p:cTn id="8" fill="hold">
                            <p:stCondLst>
                              <p:cond delay="0"/>
                            </p:stCondLst>
                            <p:childTnLst>
                              <p:par>
                                <p:cTn id="9" presetID="10" presetClass="emph" presetSubtype="0" fill="hold" nodeType="clickEffect">
                                  <p:stCondLst>
                                    <p:cond delay="0"/>
                                  </p:stCondLst>
                                  <p:childTnLst>
                                    <p:anim calcmode="discrete" valueType="str">
                                      <p:cBhvr override="childStyle">
                                        <p:cTn id="10" dur="2000" fill="hold"/>
                                        <p:tgtEl>
                                          <p:spTgt spid="3">
                                            <p:txEl>
                                              <p:pRg st="1" end="1"/>
                                            </p:txEl>
                                          </p:spTgt>
                                        </p:tgtEl>
                                        <p:attrNameLst>
                                          <p:attrName>style.fontWeight</p:attrName>
                                        </p:attrNameLst>
                                      </p:cBhvr>
                                      <p:tavLst>
                                        <p:tav tm="0">
                                          <p:val>
                                            <p:strVal val="normal"/>
                                          </p:val>
                                        </p:tav>
                                        <p:tav tm="50000">
                                          <p:val>
                                            <p:strVal val="bold"/>
                                          </p:val>
                                        </p:tav>
                                        <p:tav tm="60000">
                                          <p:val>
                                            <p:strVal val="normal"/>
                                          </p:val>
                                        </p:tav>
                                        <p:tav tm="100000">
                                          <p:val>
                                            <p:strVal val="normal"/>
                                          </p:val>
                                        </p:tav>
                                      </p:tavLst>
                                    </p:anim>
                                  </p:childTnLst>
                                </p:cTn>
                              </p:par>
                              <p:par>
                                <p:cTn id="11" presetID="10" presetClass="emph" presetSubtype="0" fill="hold" nodeType="withEffect">
                                  <p:stCondLst>
                                    <p:cond delay="0"/>
                                  </p:stCondLst>
                                  <p:childTnLst>
                                    <p:anim calcmode="discrete" valueType="str">
                                      <p:cBhvr override="childStyle">
                                        <p:cTn id="12" dur="2000" fill="hold"/>
                                        <p:tgtEl>
                                          <p:spTgt spid="3">
                                            <p:txEl>
                                              <p:pRg st="2" end="2"/>
                                            </p:txEl>
                                          </p:spTgt>
                                        </p:tgtEl>
                                        <p:attrNameLst>
                                          <p:attrName>style.fontWeight</p:attrName>
                                        </p:attrNameLst>
                                      </p:cBhvr>
                                      <p:tavLst>
                                        <p:tav tm="0">
                                          <p:val>
                                            <p:strVal val="normal"/>
                                          </p:val>
                                        </p:tav>
                                        <p:tav tm="50000">
                                          <p:val>
                                            <p:strVal val="bold"/>
                                          </p:val>
                                        </p:tav>
                                        <p:tav tm="60000">
                                          <p:val>
                                            <p:strVal val="normal"/>
                                          </p:val>
                                        </p:tav>
                                        <p:tav tm="100000">
                                          <p:val>
                                            <p:strVal val="normal"/>
                                          </p:val>
                                        </p:tav>
                                      </p:tavLst>
                                    </p:anim>
                                  </p:childTnLst>
                                </p:cTn>
                              </p:par>
                              <p:par>
                                <p:cTn id="13" presetID="10" presetClass="emph" presetSubtype="0" fill="hold" nodeType="withEffect">
                                  <p:stCondLst>
                                    <p:cond delay="0"/>
                                  </p:stCondLst>
                                  <p:childTnLst>
                                    <p:anim calcmode="discrete" valueType="str">
                                      <p:cBhvr override="childStyle">
                                        <p:cTn id="14" dur="2000" fill="hold"/>
                                        <p:tgtEl>
                                          <p:spTgt spid="3">
                                            <p:txEl>
                                              <p:pRg st="3" end="3"/>
                                            </p:txEl>
                                          </p:spTgt>
                                        </p:tgtEl>
                                        <p:attrNameLst>
                                          <p:attrName>style.fontWeight</p:attrName>
                                        </p:attrNameLst>
                                      </p:cBhvr>
                                      <p:tavLst>
                                        <p:tav tm="0">
                                          <p:val>
                                            <p:strVal val="normal"/>
                                          </p:val>
                                        </p:tav>
                                        <p:tav tm="50000">
                                          <p:val>
                                            <p:strVal val="bold"/>
                                          </p:val>
                                        </p:tav>
                                        <p:tav tm="60000">
                                          <p:val>
                                            <p:strVal val="normal"/>
                                          </p:val>
                                        </p:tav>
                                        <p:tav tm="100000">
                                          <p:val>
                                            <p:strVal val="normal"/>
                                          </p:val>
                                        </p:tav>
                                      </p:tavLst>
                                    </p:anim>
                                  </p:childTnLst>
                                </p:cTn>
                              </p:par>
                              <p:par>
                                <p:cTn id="15" presetID="10" presetClass="emph" presetSubtype="0" fill="hold" nodeType="withEffect">
                                  <p:stCondLst>
                                    <p:cond delay="0"/>
                                  </p:stCondLst>
                                  <p:childTnLst>
                                    <p:anim calcmode="discrete" valueType="str">
                                      <p:cBhvr override="childStyle">
                                        <p:cTn id="16" dur="2000" fill="hold"/>
                                        <p:tgtEl>
                                          <p:spTgt spid="3">
                                            <p:txEl>
                                              <p:pRg st="4" end="4"/>
                                            </p:txEl>
                                          </p:spTgt>
                                        </p:tgtEl>
                                        <p:attrNameLst>
                                          <p:attrName>style.fontWeight</p:attrName>
                                        </p:attrNameLst>
                                      </p:cBhvr>
                                      <p:tavLst>
                                        <p:tav tm="0">
                                          <p:val>
                                            <p:strVal val="normal"/>
                                          </p:val>
                                        </p:tav>
                                        <p:tav tm="50000">
                                          <p:val>
                                            <p:strVal val="bold"/>
                                          </p:val>
                                        </p:tav>
                                        <p:tav tm="60000">
                                          <p:val>
                                            <p:strVal val="normal"/>
                                          </p:val>
                                        </p:tav>
                                        <p:tav tm="100000">
                                          <p:val>
                                            <p:strVal val="normal"/>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00706B-B936-45DE-AA79-DBEB4CC06D2F}"/>
              </a:ext>
            </a:extLst>
          </p:cNvPr>
          <p:cNvSpPr>
            <a:spLocks noGrp="1"/>
          </p:cNvSpPr>
          <p:nvPr>
            <p:ph type="title"/>
          </p:nvPr>
        </p:nvSpPr>
        <p:spPr/>
        <p:txBody>
          <a:bodyPr>
            <a:normAutofit/>
          </a:bodyPr>
          <a:lstStyle/>
          <a:p>
            <a:r>
              <a:rPr lang="en-US" sz="6000" b="1" u="sng" dirty="0">
                <a:solidFill>
                  <a:srgbClr val="B01513"/>
                </a:solidFill>
                <a:latin typeface="Times New Roman" panose="02020603050405020304" pitchFamily="18" charset="0"/>
                <a:cs typeface="Times New Roman" panose="02020603050405020304" pitchFamily="18" charset="0"/>
              </a:rPr>
              <a:t>MODULES</a:t>
            </a:r>
          </a:p>
        </p:txBody>
      </p:sp>
      <p:sp>
        <p:nvSpPr>
          <p:cNvPr id="3" name="Content Placeholder 2">
            <a:extLst>
              <a:ext uri="{FF2B5EF4-FFF2-40B4-BE49-F238E27FC236}">
                <a16:creationId xmlns:a16="http://schemas.microsoft.com/office/drawing/2014/main" id="{8659A9B5-6B0D-4205-BB54-4A8784D95360}"/>
              </a:ext>
            </a:extLst>
          </p:cNvPr>
          <p:cNvSpPr>
            <a:spLocks noGrp="1"/>
          </p:cNvSpPr>
          <p:nvPr>
            <p:ph idx="1"/>
          </p:nvPr>
        </p:nvSpPr>
        <p:spPr>
          <a:xfrm>
            <a:off x="626166" y="1690688"/>
            <a:ext cx="10515600" cy="4351338"/>
          </a:xfrm>
        </p:spPr>
        <p:txBody>
          <a:bodyPr/>
          <a:lstStyle/>
          <a:p>
            <a:pPr marL="0" indent="0">
              <a:buNone/>
            </a:pPr>
            <a:endParaRPr lang="en-US" dirty="0"/>
          </a:p>
          <a:p>
            <a:pPr lvl="0"/>
            <a:r>
              <a:rPr lang="en-US" b="1" dirty="0"/>
              <a:t>New card</a:t>
            </a:r>
            <a:endParaRPr lang="en-US" dirty="0"/>
          </a:p>
          <a:p>
            <a:pPr lvl="0"/>
            <a:r>
              <a:rPr lang="en-US" b="1" dirty="0"/>
              <a:t>Login</a:t>
            </a:r>
            <a:endParaRPr lang="en-US" dirty="0"/>
          </a:p>
          <a:p>
            <a:pPr lvl="0"/>
            <a:r>
              <a:rPr lang="en-US" b="1" dirty="0"/>
              <a:t>Security information</a:t>
            </a:r>
            <a:endParaRPr lang="en-US" dirty="0"/>
          </a:p>
          <a:p>
            <a:pPr lvl="0"/>
            <a:r>
              <a:rPr lang="en-US" b="1" dirty="0"/>
              <a:t>Transaction</a:t>
            </a:r>
            <a:endParaRPr lang="en-US" dirty="0"/>
          </a:p>
          <a:p>
            <a:pPr lvl="0"/>
            <a:r>
              <a:rPr lang="en-US" b="1" dirty="0"/>
              <a:t>Verification</a:t>
            </a:r>
            <a:endParaRPr lang="en-US" dirty="0"/>
          </a:p>
          <a:p>
            <a:endParaRPr lang="en-US" dirty="0"/>
          </a:p>
        </p:txBody>
      </p:sp>
    </p:spTree>
    <p:extLst>
      <p:ext uri="{BB962C8B-B14F-4D97-AF65-F5344CB8AC3E}">
        <p14:creationId xmlns:p14="http://schemas.microsoft.com/office/powerpoint/2010/main" val="674466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030308-23E0-4F71-80AB-32C91D12B1A2}"/>
              </a:ext>
            </a:extLst>
          </p:cNvPr>
          <p:cNvSpPr>
            <a:spLocks noGrp="1"/>
          </p:cNvSpPr>
          <p:nvPr>
            <p:ph type="title"/>
          </p:nvPr>
        </p:nvSpPr>
        <p:spPr>
          <a:xfrm>
            <a:off x="750614" y="374341"/>
            <a:ext cx="9404723" cy="1400530"/>
          </a:xfrm>
        </p:spPr>
        <p:txBody>
          <a:bodyPr/>
          <a:lstStyle/>
          <a:p>
            <a:r>
              <a:rPr lang="en-US" b="1" u="sng" dirty="0">
                <a:solidFill>
                  <a:srgbClr val="B01513"/>
                </a:solidFill>
                <a:latin typeface="Times New Roman" panose="02020603050405020304" pitchFamily="18" charset="0"/>
                <a:cs typeface="Times New Roman" panose="02020603050405020304" pitchFamily="18" charset="0"/>
              </a:rPr>
              <a:t>MODULE I/O</a:t>
            </a:r>
            <a:endParaRPr lang="en-US" dirty="0">
              <a:solidFill>
                <a:srgbClr val="B01513"/>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137C565-F80D-4D25-AAC3-9904719BAD0D}"/>
              </a:ext>
            </a:extLst>
          </p:cNvPr>
          <p:cNvSpPr>
            <a:spLocks noGrp="1"/>
          </p:cNvSpPr>
          <p:nvPr>
            <p:ph idx="1"/>
          </p:nvPr>
        </p:nvSpPr>
        <p:spPr>
          <a:xfrm>
            <a:off x="1103312" y="1615858"/>
            <a:ext cx="8946541" cy="4632541"/>
          </a:xfrm>
        </p:spPr>
        <p:txBody>
          <a:bodyPr>
            <a:normAutofit fontScale="70000" lnSpcReduction="20000"/>
          </a:bodyPr>
          <a:lstStyle/>
          <a:p>
            <a:r>
              <a:rPr lang="en-US" b="1" u="sng" dirty="0"/>
              <a:t>New card</a:t>
            </a:r>
            <a:endParaRPr lang="en-US" dirty="0"/>
          </a:p>
          <a:p>
            <a:r>
              <a:rPr lang="en-US" dirty="0"/>
              <a:t>Given Input- Request from the user for the card.</a:t>
            </a:r>
          </a:p>
          <a:p>
            <a:r>
              <a:rPr lang="en-US" dirty="0"/>
              <a:t>Expected Output-Assigning an account to requested user.</a:t>
            </a:r>
          </a:p>
          <a:p>
            <a:r>
              <a:rPr lang="en-US" b="1" u="sng" dirty="0"/>
              <a:t>Login</a:t>
            </a:r>
            <a:endParaRPr lang="en-US" dirty="0"/>
          </a:p>
          <a:p>
            <a:r>
              <a:rPr lang="en-US" dirty="0"/>
              <a:t>Given Input- Give username and password of particular user.</a:t>
            </a:r>
          </a:p>
          <a:p>
            <a:r>
              <a:rPr lang="en-US" dirty="0"/>
              <a:t>Expected Output- Login to user’s account.</a:t>
            </a:r>
          </a:p>
          <a:p>
            <a:r>
              <a:rPr lang="en-US" b="1" u="sng" dirty="0"/>
              <a:t>Security information</a:t>
            </a:r>
            <a:endParaRPr lang="en-US" dirty="0"/>
          </a:p>
          <a:p>
            <a:r>
              <a:rPr lang="en-US" dirty="0"/>
              <a:t>Given Input- Give the security information by answering security questions.</a:t>
            </a:r>
          </a:p>
          <a:p>
            <a:r>
              <a:rPr lang="en-US" dirty="0"/>
              <a:t>Expected Output-</a:t>
            </a:r>
            <a:r>
              <a:rPr lang="en-US" dirty="0" err="1"/>
              <a:t>Updation</a:t>
            </a:r>
            <a:r>
              <a:rPr lang="en-US" dirty="0"/>
              <a:t> of account with the security details.</a:t>
            </a:r>
          </a:p>
          <a:p>
            <a:r>
              <a:rPr lang="en-US" b="1" u="sng" dirty="0"/>
              <a:t>Transaction</a:t>
            </a:r>
            <a:endParaRPr lang="en-US" dirty="0"/>
          </a:p>
          <a:p>
            <a:r>
              <a:rPr lang="en-US" dirty="0"/>
              <a:t>Given Input- Give the account details and performs transaction.</a:t>
            </a:r>
          </a:p>
          <a:p>
            <a:r>
              <a:rPr lang="en-US" dirty="0"/>
              <a:t>Expected Output- </a:t>
            </a:r>
            <a:r>
              <a:rPr lang="en-US" dirty="0" err="1"/>
              <a:t>Updation</a:t>
            </a:r>
            <a:r>
              <a:rPr lang="en-US" dirty="0"/>
              <a:t> of database.</a:t>
            </a:r>
          </a:p>
          <a:p>
            <a:r>
              <a:rPr lang="en-US" b="1" u="sng" dirty="0"/>
              <a:t>Verification</a:t>
            </a:r>
            <a:endParaRPr lang="en-US" dirty="0"/>
          </a:p>
          <a:p>
            <a:r>
              <a:rPr lang="en-US" dirty="0"/>
              <a:t>Given Input- Checks with user’s stored details like security answers or hidden details.</a:t>
            </a:r>
          </a:p>
          <a:p>
            <a:r>
              <a:rPr lang="en-US" dirty="0"/>
              <a:t>Expected Output-If the verification is success, user can perform transaction, else blocks the cards</a:t>
            </a:r>
          </a:p>
          <a:p>
            <a:endParaRPr lang="en-US" dirty="0"/>
          </a:p>
        </p:txBody>
      </p:sp>
    </p:spTree>
    <p:extLst>
      <p:ext uri="{BB962C8B-B14F-4D97-AF65-F5344CB8AC3E}">
        <p14:creationId xmlns:p14="http://schemas.microsoft.com/office/powerpoint/2010/main" val="3178741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grpId="0" nodeType="clickEffect">
                                  <p:stCondLst>
                                    <p:cond delay="0"/>
                                  </p:stCondLst>
                                  <p:iterate type="lt">
                                    <p:tmPct val="4000"/>
                                  </p:iterate>
                                  <p:childTnLst>
                                    <p:set>
                                      <p:cBhvr override="childStyle">
                                        <p:cTn id="6" dur="500" fill="hold"/>
                                        <p:tgtEl>
                                          <p:spTgt spid="2"/>
                                        </p:tgtEl>
                                        <p:attrNameLst>
                                          <p:attrName>style.color</p:attrName>
                                        </p:attrNameLst>
                                      </p:cBhvr>
                                      <p:to>
                                        <p:clrVal>
                                          <a:schemeClr val="accent2"/>
                                        </p:clrVal>
                                      </p:to>
                                    </p:set>
                                    <p:set>
                                      <p:cBhvr>
                                        <p:cTn id="7" dur="500" fill="hold"/>
                                        <p:tgtEl>
                                          <p:spTgt spid="2"/>
                                        </p:tgtEl>
                                        <p:attrNameLst>
                                          <p:attrName>fillcolor</p:attrName>
                                        </p:attrNameLst>
                                      </p:cBhvr>
                                      <p:to>
                                        <p:clrVal>
                                          <a:schemeClr val="accent2"/>
                                        </p:clrVal>
                                      </p:to>
                                    </p:set>
                                    <p:set>
                                      <p:cBhvr>
                                        <p:cTn id="8" dur="500" fill="hold"/>
                                        <p:tgtEl>
                                          <p:spTgt spid="2"/>
                                        </p:tgtEl>
                                        <p:attrNameLst>
                                          <p:attrName>fill.type</p:attrName>
                                        </p:attrNameLst>
                                      </p:cBhvr>
                                      <p:to>
                                        <p:strVal val="solid"/>
                                      </p:to>
                                    </p:set>
                                  </p:childTnLst>
                                </p:cTn>
                              </p:par>
                            </p:childTnLst>
                          </p:cTn>
                        </p:par>
                      </p:childTnLst>
                    </p:cTn>
                  </p:par>
                  <p:par>
                    <p:cTn id="9" fill="hold">
                      <p:stCondLst>
                        <p:cond delay="indefinite"/>
                      </p:stCondLst>
                      <p:childTnLst>
                        <p:par>
                          <p:cTn id="10" fill="hold">
                            <p:stCondLst>
                              <p:cond delay="0"/>
                            </p:stCondLst>
                            <p:childTnLst>
                              <p:par>
                                <p:cTn id="11" presetID="34" presetClass="emph" presetSubtype="0" fill="hold" nodeType="clickEffect">
                                  <p:stCondLst>
                                    <p:cond delay="0"/>
                                  </p:stCondLst>
                                  <p:iterate type="lt">
                                    <p:tmPct val="10000"/>
                                  </p:iterate>
                                  <p:childTnLst>
                                    <p:animMotion origin="layout" path="M 0.0 0.0 L 0.0 -0.07213" pathEditMode="relative" ptsTypes="">
                                      <p:cBhvr>
                                        <p:cTn id="12" dur="250" accel="50000" decel="50000" autoRev="1" fill="hold">
                                          <p:stCondLst>
                                            <p:cond delay="0"/>
                                          </p:stCondLst>
                                        </p:cTn>
                                        <p:tgtEl>
                                          <p:spTgt spid="3">
                                            <p:txEl>
                                              <p:pRg st="0" end="0"/>
                                            </p:txEl>
                                          </p:spTgt>
                                        </p:tgtEl>
                                        <p:attrNameLst>
                                          <p:attrName>ppt_x</p:attrName>
                                          <p:attrName>ppt_y</p:attrName>
                                        </p:attrNameLst>
                                      </p:cBhvr>
                                    </p:animMotion>
                                    <p:animRot by="1500000">
                                      <p:cBhvr>
                                        <p:cTn id="13" dur="125" fill="hold">
                                          <p:stCondLst>
                                            <p:cond delay="0"/>
                                          </p:stCondLst>
                                        </p:cTn>
                                        <p:tgtEl>
                                          <p:spTgt spid="3">
                                            <p:txEl>
                                              <p:pRg st="0" end="0"/>
                                            </p:txEl>
                                          </p:spTgt>
                                        </p:tgtEl>
                                        <p:attrNameLst>
                                          <p:attrName>r</p:attrName>
                                        </p:attrNameLst>
                                      </p:cBhvr>
                                    </p:animRot>
                                    <p:animRot by="-1500000">
                                      <p:cBhvr>
                                        <p:cTn id="14" dur="125" fill="hold">
                                          <p:stCondLst>
                                            <p:cond delay="125"/>
                                          </p:stCondLst>
                                        </p:cTn>
                                        <p:tgtEl>
                                          <p:spTgt spid="3">
                                            <p:txEl>
                                              <p:pRg st="0" end="0"/>
                                            </p:txEl>
                                          </p:spTgt>
                                        </p:tgtEl>
                                        <p:attrNameLst>
                                          <p:attrName>r</p:attrName>
                                        </p:attrNameLst>
                                      </p:cBhvr>
                                    </p:animRot>
                                    <p:animRot by="-1500000">
                                      <p:cBhvr>
                                        <p:cTn id="15" dur="125" fill="hold">
                                          <p:stCondLst>
                                            <p:cond delay="250"/>
                                          </p:stCondLst>
                                        </p:cTn>
                                        <p:tgtEl>
                                          <p:spTgt spid="3">
                                            <p:txEl>
                                              <p:pRg st="0" end="0"/>
                                            </p:txEl>
                                          </p:spTgt>
                                        </p:tgtEl>
                                        <p:attrNameLst>
                                          <p:attrName>r</p:attrName>
                                        </p:attrNameLst>
                                      </p:cBhvr>
                                    </p:animRot>
                                    <p:animRot by="1500000">
                                      <p:cBhvr>
                                        <p:cTn id="16" dur="125" fill="hold">
                                          <p:stCondLst>
                                            <p:cond delay="375"/>
                                          </p:stCondLst>
                                        </p:cTn>
                                        <p:tgtEl>
                                          <p:spTgt spid="3">
                                            <p:txEl>
                                              <p:pRg st="0" end="0"/>
                                            </p:txEl>
                                          </p:spTgt>
                                        </p:tgtEl>
                                        <p:attrNameLst>
                                          <p:attrName>r</p:attrName>
                                        </p:attrNameLst>
                                      </p:cBhvr>
                                    </p:animRot>
                                  </p:childTnLst>
                                </p:cTn>
                              </p:par>
                              <p:par>
                                <p:cTn id="17" presetID="34" presetClass="emph" presetSubtype="0" fill="hold" nodeType="withEffect">
                                  <p:stCondLst>
                                    <p:cond delay="0"/>
                                  </p:stCondLst>
                                  <p:iterate type="lt">
                                    <p:tmPct val="10000"/>
                                  </p:iterate>
                                  <p:childTnLst>
                                    <p:animMotion origin="layout" path="M 0.0 0.0 L 0.0 -0.07213" pathEditMode="relative" ptsTypes="">
                                      <p:cBhvr>
                                        <p:cTn id="18" dur="250" accel="50000" decel="50000" autoRev="1" fill="hold">
                                          <p:stCondLst>
                                            <p:cond delay="0"/>
                                          </p:stCondLst>
                                        </p:cTn>
                                        <p:tgtEl>
                                          <p:spTgt spid="3">
                                            <p:txEl>
                                              <p:pRg st="1" end="1"/>
                                            </p:txEl>
                                          </p:spTgt>
                                        </p:tgtEl>
                                        <p:attrNameLst>
                                          <p:attrName>ppt_x</p:attrName>
                                          <p:attrName>ppt_y</p:attrName>
                                        </p:attrNameLst>
                                      </p:cBhvr>
                                    </p:animMotion>
                                    <p:animRot by="1500000">
                                      <p:cBhvr>
                                        <p:cTn id="19" dur="125" fill="hold">
                                          <p:stCondLst>
                                            <p:cond delay="0"/>
                                          </p:stCondLst>
                                        </p:cTn>
                                        <p:tgtEl>
                                          <p:spTgt spid="3">
                                            <p:txEl>
                                              <p:pRg st="1" end="1"/>
                                            </p:txEl>
                                          </p:spTgt>
                                        </p:tgtEl>
                                        <p:attrNameLst>
                                          <p:attrName>r</p:attrName>
                                        </p:attrNameLst>
                                      </p:cBhvr>
                                    </p:animRot>
                                    <p:animRot by="-1500000">
                                      <p:cBhvr>
                                        <p:cTn id="20" dur="125" fill="hold">
                                          <p:stCondLst>
                                            <p:cond delay="125"/>
                                          </p:stCondLst>
                                        </p:cTn>
                                        <p:tgtEl>
                                          <p:spTgt spid="3">
                                            <p:txEl>
                                              <p:pRg st="1" end="1"/>
                                            </p:txEl>
                                          </p:spTgt>
                                        </p:tgtEl>
                                        <p:attrNameLst>
                                          <p:attrName>r</p:attrName>
                                        </p:attrNameLst>
                                      </p:cBhvr>
                                    </p:animRot>
                                    <p:animRot by="-1500000">
                                      <p:cBhvr>
                                        <p:cTn id="21" dur="125" fill="hold">
                                          <p:stCondLst>
                                            <p:cond delay="250"/>
                                          </p:stCondLst>
                                        </p:cTn>
                                        <p:tgtEl>
                                          <p:spTgt spid="3">
                                            <p:txEl>
                                              <p:pRg st="1" end="1"/>
                                            </p:txEl>
                                          </p:spTgt>
                                        </p:tgtEl>
                                        <p:attrNameLst>
                                          <p:attrName>r</p:attrName>
                                        </p:attrNameLst>
                                      </p:cBhvr>
                                    </p:animRot>
                                    <p:animRot by="1500000">
                                      <p:cBhvr>
                                        <p:cTn id="22" dur="125" fill="hold">
                                          <p:stCondLst>
                                            <p:cond delay="375"/>
                                          </p:stCondLst>
                                        </p:cTn>
                                        <p:tgtEl>
                                          <p:spTgt spid="3">
                                            <p:txEl>
                                              <p:pRg st="1" end="1"/>
                                            </p:txEl>
                                          </p:spTgt>
                                        </p:tgtEl>
                                        <p:attrNameLst>
                                          <p:attrName>r</p:attrName>
                                        </p:attrNameLst>
                                      </p:cBhvr>
                                    </p:animRot>
                                  </p:childTnLst>
                                </p:cTn>
                              </p:par>
                              <p:par>
                                <p:cTn id="23" presetID="34" presetClass="emph" presetSubtype="0" fill="hold" nodeType="withEffect">
                                  <p:stCondLst>
                                    <p:cond delay="0"/>
                                  </p:stCondLst>
                                  <p:iterate type="lt">
                                    <p:tmPct val="10000"/>
                                  </p:iterate>
                                  <p:childTnLst>
                                    <p:animMotion origin="layout" path="M 0.0 0.0 L 0.0 -0.07213" pathEditMode="relative" ptsTypes="">
                                      <p:cBhvr>
                                        <p:cTn id="24" dur="250" accel="50000" decel="50000" autoRev="1" fill="hold">
                                          <p:stCondLst>
                                            <p:cond delay="0"/>
                                          </p:stCondLst>
                                        </p:cTn>
                                        <p:tgtEl>
                                          <p:spTgt spid="3">
                                            <p:txEl>
                                              <p:pRg st="2" end="2"/>
                                            </p:txEl>
                                          </p:spTgt>
                                        </p:tgtEl>
                                        <p:attrNameLst>
                                          <p:attrName>ppt_x</p:attrName>
                                          <p:attrName>ppt_y</p:attrName>
                                        </p:attrNameLst>
                                      </p:cBhvr>
                                    </p:animMotion>
                                    <p:animRot by="1500000">
                                      <p:cBhvr>
                                        <p:cTn id="25" dur="125" fill="hold">
                                          <p:stCondLst>
                                            <p:cond delay="0"/>
                                          </p:stCondLst>
                                        </p:cTn>
                                        <p:tgtEl>
                                          <p:spTgt spid="3">
                                            <p:txEl>
                                              <p:pRg st="2" end="2"/>
                                            </p:txEl>
                                          </p:spTgt>
                                        </p:tgtEl>
                                        <p:attrNameLst>
                                          <p:attrName>r</p:attrName>
                                        </p:attrNameLst>
                                      </p:cBhvr>
                                    </p:animRot>
                                    <p:animRot by="-1500000">
                                      <p:cBhvr>
                                        <p:cTn id="26" dur="125" fill="hold">
                                          <p:stCondLst>
                                            <p:cond delay="125"/>
                                          </p:stCondLst>
                                        </p:cTn>
                                        <p:tgtEl>
                                          <p:spTgt spid="3">
                                            <p:txEl>
                                              <p:pRg st="2" end="2"/>
                                            </p:txEl>
                                          </p:spTgt>
                                        </p:tgtEl>
                                        <p:attrNameLst>
                                          <p:attrName>r</p:attrName>
                                        </p:attrNameLst>
                                      </p:cBhvr>
                                    </p:animRot>
                                    <p:animRot by="-1500000">
                                      <p:cBhvr>
                                        <p:cTn id="27" dur="125" fill="hold">
                                          <p:stCondLst>
                                            <p:cond delay="250"/>
                                          </p:stCondLst>
                                        </p:cTn>
                                        <p:tgtEl>
                                          <p:spTgt spid="3">
                                            <p:txEl>
                                              <p:pRg st="2" end="2"/>
                                            </p:txEl>
                                          </p:spTgt>
                                        </p:tgtEl>
                                        <p:attrNameLst>
                                          <p:attrName>r</p:attrName>
                                        </p:attrNameLst>
                                      </p:cBhvr>
                                    </p:animRot>
                                    <p:animRot by="1500000">
                                      <p:cBhvr>
                                        <p:cTn id="28" dur="125" fill="hold">
                                          <p:stCondLst>
                                            <p:cond delay="375"/>
                                          </p:stCondLst>
                                        </p:cTn>
                                        <p:tgtEl>
                                          <p:spTgt spid="3">
                                            <p:txEl>
                                              <p:pRg st="2" end="2"/>
                                            </p:txEl>
                                          </p:spTgt>
                                        </p:tgtEl>
                                        <p:attrNameLst>
                                          <p:attrName>r</p:attrName>
                                        </p:attrNameLst>
                                      </p:cBhvr>
                                    </p:animRot>
                                  </p:childTnLst>
                                </p:cTn>
                              </p:par>
                              <p:par>
                                <p:cTn id="29" presetID="34" presetClass="emph" presetSubtype="0" fill="hold" nodeType="withEffect">
                                  <p:stCondLst>
                                    <p:cond delay="0"/>
                                  </p:stCondLst>
                                  <p:iterate type="lt">
                                    <p:tmPct val="10000"/>
                                  </p:iterate>
                                  <p:childTnLst>
                                    <p:animMotion origin="layout" path="M 0.0 0.0 L 0.0 -0.07213" pathEditMode="relative" ptsTypes="">
                                      <p:cBhvr>
                                        <p:cTn id="30" dur="250" accel="50000" decel="50000" autoRev="1" fill="hold">
                                          <p:stCondLst>
                                            <p:cond delay="0"/>
                                          </p:stCondLst>
                                        </p:cTn>
                                        <p:tgtEl>
                                          <p:spTgt spid="3">
                                            <p:txEl>
                                              <p:pRg st="3" end="3"/>
                                            </p:txEl>
                                          </p:spTgt>
                                        </p:tgtEl>
                                        <p:attrNameLst>
                                          <p:attrName>ppt_x</p:attrName>
                                          <p:attrName>ppt_y</p:attrName>
                                        </p:attrNameLst>
                                      </p:cBhvr>
                                    </p:animMotion>
                                    <p:animRot by="1500000">
                                      <p:cBhvr>
                                        <p:cTn id="31" dur="125" fill="hold">
                                          <p:stCondLst>
                                            <p:cond delay="0"/>
                                          </p:stCondLst>
                                        </p:cTn>
                                        <p:tgtEl>
                                          <p:spTgt spid="3">
                                            <p:txEl>
                                              <p:pRg st="3" end="3"/>
                                            </p:txEl>
                                          </p:spTgt>
                                        </p:tgtEl>
                                        <p:attrNameLst>
                                          <p:attrName>r</p:attrName>
                                        </p:attrNameLst>
                                      </p:cBhvr>
                                    </p:animRot>
                                    <p:animRot by="-1500000">
                                      <p:cBhvr>
                                        <p:cTn id="32" dur="125" fill="hold">
                                          <p:stCondLst>
                                            <p:cond delay="125"/>
                                          </p:stCondLst>
                                        </p:cTn>
                                        <p:tgtEl>
                                          <p:spTgt spid="3">
                                            <p:txEl>
                                              <p:pRg st="3" end="3"/>
                                            </p:txEl>
                                          </p:spTgt>
                                        </p:tgtEl>
                                        <p:attrNameLst>
                                          <p:attrName>r</p:attrName>
                                        </p:attrNameLst>
                                      </p:cBhvr>
                                    </p:animRot>
                                    <p:animRot by="-1500000">
                                      <p:cBhvr>
                                        <p:cTn id="33" dur="125" fill="hold">
                                          <p:stCondLst>
                                            <p:cond delay="250"/>
                                          </p:stCondLst>
                                        </p:cTn>
                                        <p:tgtEl>
                                          <p:spTgt spid="3">
                                            <p:txEl>
                                              <p:pRg st="3" end="3"/>
                                            </p:txEl>
                                          </p:spTgt>
                                        </p:tgtEl>
                                        <p:attrNameLst>
                                          <p:attrName>r</p:attrName>
                                        </p:attrNameLst>
                                      </p:cBhvr>
                                    </p:animRot>
                                    <p:animRot by="1500000">
                                      <p:cBhvr>
                                        <p:cTn id="34" dur="125" fill="hold">
                                          <p:stCondLst>
                                            <p:cond delay="375"/>
                                          </p:stCondLst>
                                        </p:cTn>
                                        <p:tgtEl>
                                          <p:spTgt spid="3">
                                            <p:txEl>
                                              <p:pRg st="3" end="3"/>
                                            </p:txEl>
                                          </p:spTgt>
                                        </p:tgtEl>
                                        <p:attrNameLst>
                                          <p:attrName>r</p:attrName>
                                        </p:attrNameLst>
                                      </p:cBhvr>
                                    </p:animRot>
                                  </p:childTnLst>
                                </p:cTn>
                              </p:par>
                              <p:par>
                                <p:cTn id="35" presetID="34" presetClass="emph" presetSubtype="0" fill="hold" nodeType="withEffect">
                                  <p:stCondLst>
                                    <p:cond delay="0"/>
                                  </p:stCondLst>
                                  <p:iterate type="lt">
                                    <p:tmPct val="10000"/>
                                  </p:iterate>
                                  <p:childTnLst>
                                    <p:animMotion origin="layout" path="M 0.0 0.0 L 0.0 -0.07213" pathEditMode="relative" ptsTypes="">
                                      <p:cBhvr>
                                        <p:cTn id="36" dur="250" accel="50000" decel="50000" autoRev="1" fill="hold">
                                          <p:stCondLst>
                                            <p:cond delay="0"/>
                                          </p:stCondLst>
                                        </p:cTn>
                                        <p:tgtEl>
                                          <p:spTgt spid="3">
                                            <p:txEl>
                                              <p:pRg st="4" end="4"/>
                                            </p:txEl>
                                          </p:spTgt>
                                        </p:tgtEl>
                                        <p:attrNameLst>
                                          <p:attrName>ppt_x</p:attrName>
                                          <p:attrName>ppt_y</p:attrName>
                                        </p:attrNameLst>
                                      </p:cBhvr>
                                    </p:animMotion>
                                    <p:animRot by="1500000">
                                      <p:cBhvr>
                                        <p:cTn id="37" dur="125" fill="hold">
                                          <p:stCondLst>
                                            <p:cond delay="0"/>
                                          </p:stCondLst>
                                        </p:cTn>
                                        <p:tgtEl>
                                          <p:spTgt spid="3">
                                            <p:txEl>
                                              <p:pRg st="4" end="4"/>
                                            </p:txEl>
                                          </p:spTgt>
                                        </p:tgtEl>
                                        <p:attrNameLst>
                                          <p:attrName>r</p:attrName>
                                        </p:attrNameLst>
                                      </p:cBhvr>
                                    </p:animRot>
                                    <p:animRot by="-1500000">
                                      <p:cBhvr>
                                        <p:cTn id="38" dur="125" fill="hold">
                                          <p:stCondLst>
                                            <p:cond delay="125"/>
                                          </p:stCondLst>
                                        </p:cTn>
                                        <p:tgtEl>
                                          <p:spTgt spid="3">
                                            <p:txEl>
                                              <p:pRg st="4" end="4"/>
                                            </p:txEl>
                                          </p:spTgt>
                                        </p:tgtEl>
                                        <p:attrNameLst>
                                          <p:attrName>r</p:attrName>
                                        </p:attrNameLst>
                                      </p:cBhvr>
                                    </p:animRot>
                                    <p:animRot by="-1500000">
                                      <p:cBhvr>
                                        <p:cTn id="39" dur="125" fill="hold">
                                          <p:stCondLst>
                                            <p:cond delay="250"/>
                                          </p:stCondLst>
                                        </p:cTn>
                                        <p:tgtEl>
                                          <p:spTgt spid="3">
                                            <p:txEl>
                                              <p:pRg st="4" end="4"/>
                                            </p:txEl>
                                          </p:spTgt>
                                        </p:tgtEl>
                                        <p:attrNameLst>
                                          <p:attrName>r</p:attrName>
                                        </p:attrNameLst>
                                      </p:cBhvr>
                                    </p:animRot>
                                    <p:animRot by="1500000">
                                      <p:cBhvr>
                                        <p:cTn id="40" dur="125" fill="hold">
                                          <p:stCondLst>
                                            <p:cond delay="375"/>
                                          </p:stCondLst>
                                        </p:cTn>
                                        <p:tgtEl>
                                          <p:spTgt spid="3">
                                            <p:txEl>
                                              <p:pRg st="4" end="4"/>
                                            </p:txEl>
                                          </p:spTgt>
                                        </p:tgtEl>
                                        <p:attrNameLst>
                                          <p:attrName>r</p:attrName>
                                        </p:attrNameLst>
                                      </p:cBhvr>
                                    </p:animRot>
                                  </p:childTnLst>
                                </p:cTn>
                              </p:par>
                              <p:par>
                                <p:cTn id="41" presetID="34" presetClass="emph" presetSubtype="0" fill="hold" nodeType="withEffect">
                                  <p:stCondLst>
                                    <p:cond delay="0"/>
                                  </p:stCondLst>
                                  <p:iterate type="lt">
                                    <p:tmPct val="10000"/>
                                  </p:iterate>
                                  <p:childTnLst>
                                    <p:animMotion origin="layout" path="M 0.0 0.0 L 0.0 -0.07213" pathEditMode="relative" ptsTypes="">
                                      <p:cBhvr>
                                        <p:cTn id="42" dur="250" accel="50000" decel="50000" autoRev="1" fill="hold">
                                          <p:stCondLst>
                                            <p:cond delay="0"/>
                                          </p:stCondLst>
                                        </p:cTn>
                                        <p:tgtEl>
                                          <p:spTgt spid="3">
                                            <p:txEl>
                                              <p:pRg st="5" end="5"/>
                                            </p:txEl>
                                          </p:spTgt>
                                        </p:tgtEl>
                                        <p:attrNameLst>
                                          <p:attrName>ppt_x</p:attrName>
                                          <p:attrName>ppt_y</p:attrName>
                                        </p:attrNameLst>
                                      </p:cBhvr>
                                    </p:animMotion>
                                    <p:animRot by="1500000">
                                      <p:cBhvr>
                                        <p:cTn id="43" dur="125" fill="hold">
                                          <p:stCondLst>
                                            <p:cond delay="0"/>
                                          </p:stCondLst>
                                        </p:cTn>
                                        <p:tgtEl>
                                          <p:spTgt spid="3">
                                            <p:txEl>
                                              <p:pRg st="5" end="5"/>
                                            </p:txEl>
                                          </p:spTgt>
                                        </p:tgtEl>
                                        <p:attrNameLst>
                                          <p:attrName>r</p:attrName>
                                        </p:attrNameLst>
                                      </p:cBhvr>
                                    </p:animRot>
                                    <p:animRot by="-1500000">
                                      <p:cBhvr>
                                        <p:cTn id="44" dur="125" fill="hold">
                                          <p:stCondLst>
                                            <p:cond delay="125"/>
                                          </p:stCondLst>
                                        </p:cTn>
                                        <p:tgtEl>
                                          <p:spTgt spid="3">
                                            <p:txEl>
                                              <p:pRg st="5" end="5"/>
                                            </p:txEl>
                                          </p:spTgt>
                                        </p:tgtEl>
                                        <p:attrNameLst>
                                          <p:attrName>r</p:attrName>
                                        </p:attrNameLst>
                                      </p:cBhvr>
                                    </p:animRot>
                                    <p:animRot by="-1500000">
                                      <p:cBhvr>
                                        <p:cTn id="45" dur="125" fill="hold">
                                          <p:stCondLst>
                                            <p:cond delay="250"/>
                                          </p:stCondLst>
                                        </p:cTn>
                                        <p:tgtEl>
                                          <p:spTgt spid="3">
                                            <p:txEl>
                                              <p:pRg st="5" end="5"/>
                                            </p:txEl>
                                          </p:spTgt>
                                        </p:tgtEl>
                                        <p:attrNameLst>
                                          <p:attrName>r</p:attrName>
                                        </p:attrNameLst>
                                      </p:cBhvr>
                                    </p:animRot>
                                    <p:animRot by="1500000">
                                      <p:cBhvr>
                                        <p:cTn id="46" dur="125" fill="hold">
                                          <p:stCondLst>
                                            <p:cond delay="375"/>
                                          </p:stCondLst>
                                        </p:cTn>
                                        <p:tgtEl>
                                          <p:spTgt spid="3">
                                            <p:txEl>
                                              <p:pRg st="5" end="5"/>
                                            </p:txEl>
                                          </p:spTgt>
                                        </p:tgtEl>
                                        <p:attrNameLst>
                                          <p:attrName>r</p:attrName>
                                        </p:attrNameLst>
                                      </p:cBhvr>
                                    </p:animRot>
                                  </p:childTnLst>
                                </p:cTn>
                              </p:par>
                              <p:par>
                                <p:cTn id="47" presetID="34" presetClass="emph" presetSubtype="0" fill="hold" nodeType="withEffect">
                                  <p:stCondLst>
                                    <p:cond delay="0"/>
                                  </p:stCondLst>
                                  <p:iterate type="lt">
                                    <p:tmPct val="10000"/>
                                  </p:iterate>
                                  <p:childTnLst>
                                    <p:animMotion origin="layout" path="M 0.0 0.0 L 0.0 -0.07213" pathEditMode="relative" ptsTypes="">
                                      <p:cBhvr>
                                        <p:cTn id="48" dur="250" accel="50000" decel="50000" autoRev="1" fill="hold">
                                          <p:stCondLst>
                                            <p:cond delay="0"/>
                                          </p:stCondLst>
                                        </p:cTn>
                                        <p:tgtEl>
                                          <p:spTgt spid="3">
                                            <p:txEl>
                                              <p:pRg st="6" end="6"/>
                                            </p:txEl>
                                          </p:spTgt>
                                        </p:tgtEl>
                                        <p:attrNameLst>
                                          <p:attrName>ppt_x</p:attrName>
                                          <p:attrName>ppt_y</p:attrName>
                                        </p:attrNameLst>
                                      </p:cBhvr>
                                    </p:animMotion>
                                    <p:animRot by="1500000">
                                      <p:cBhvr>
                                        <p:cTn id="49" dur="125" fill="hold">
                                          <p:stCondLst>
                                            <p:cond delay="0"/>
                                          </p:stCondLst>
                                        </p:cTn>
                                        <p:tgtEl>
                                          <p:spTgt spid="3">
                                            <p:txEl>
                                              <p:pRg st="6" end="6"/>
                                            </p:txEl>
                                          </p:spTgt>
                                        </p:tgtEl>
                                        <p:attrNameLst>
                                          <p:attrName>r</p:attrName>
                                        </p:attrNameLst>
                                      </p:cBhvr>
                                    </p:animRot>
                                    <p:animRot by="-1500000">
                                      <p:cBhvr>
                                        <p:cTn id="50" dur="125" fill="hold">
                                          <p:stCondLst>
                                            <p:cond delay="125"/>
                                          </p:stCondLst>
                                        </p:cTn>
                                        <p:tgtEl>
                                          <p:spTgt spid="3">
                                            <p:txEl>
                                              <p:pRg st="6" end="6"/>
                                            </p:txEl>
                                          </p:spTgt>
                                        </p:tgtEl>
                                        <p:attrNameLst>
                                          <p:attrName>r</p:attrName>
                                        </p:attrNameLst>
                                      </p:cBhvr>
                                    </p:animRot>
                                    <p:animRot by="-1500000">
                                      <p:cBhvr>
                                        <p:cTn id="51" dur="125" fill="hold">
                                          <p:stCondLst>
                                            <p:cond delay="250"/>
                                          </p:stCondLst>
                                        </p:cTn>
                                        <p:tgtEl>
                                          <p:spTgt spid="3">
                                            <p:txEl>
                                              <p:pRg st="6" end="6"/>
                                            </p:txEl>
                                          </p:spTgt>
                                        </p:tgtEl>
                                        <p:attrNameLst>
                                          <p:attrName>r</p:attrName>
                                        </p:attrNameLst>
                                      </p:cBhvr>
                                    </p:animRot>
                                    <p:animRot by="1500000">
                                      <p:cBhvr>
                                        <p:cTn id="52" dur="125" fill="hold">
                                          <p:stCondLst>
                                            <p:cond delay="375"/>
                                          </p:stCondLst>
                                        </p:cTn>
                                        <p:tgtEl>
                                          <p:spTgt spid="3">
                                            <p:txEl>
                                              <p:pRg st="6" end="6"/>
                                            </p:txEl>
                                          </p:spTgt>
                                        </p:tgtEl>
                                        <p:attrNameLst>
                                          <p:attrName>r</p:attrName>
                                        </p:attrNameLst>
                                      </p:cBhvr>
                                    </p:animRot>
                                  </p:childTnLst>
                                </p:cTn>
                              </p:par>
                              <p:par>
                                <p:cTn id="53" presetID="34" presetClass="emph" presetSubtype="0" fill="hold" nodeType="withEffect">
                                  <p:stCondLst>
                                    <p:cond delay="0"/>
                                  </p:stCondLst>
                                  <p:iterate type="lt">
                                    <p:tmPct val="10000"/>
                                  </p:iterate>
                                  <p:childTnLst>
                                    <p:animMotion origin="layout" path="M 0.0 0.0 L 0.0 -0.07213" pathEditMode="relative" ptsTypes="">
                                      <p:cBhvr>
                                        <p:cTn id="54" dur="250" accel="50000" decel="50000" autoRev="1" fill="hold">
                                          <p:stCondLst>
                                            <p:cond delay="0"/>
                                          </p:stCondLst>
                                        </p:cTn>
                                        <p:tgtEl>
                                          <p:spTgt spid="3">
                                            <p:txEl>
                                              <p:pRg st="7" end="7"/>
                                            </p:txEl>
                                          </p:spTgt>
                                        </p:tgtEl>
                                        <p:attrNameLst>
                                          <p:attrName>ppt_x</p:attrName>
                                          <p:attrName>ppt_y</p:attrName>
                                        </p:attrNameLst>
                                      </p:cBhvr>
                                    </p:animMotion>
                                    <p:animRot by="1500000">
                                      <p:cBhvr>
                                        <p:cTn id="55" dur="125" fill="hold">
                                          <p:stCondLst>
                                            <p:cond delay="0"/>
                                          </p:stCondLst>
                                        </p:cTn>
                                        <p:tgtEl>
                                          <p:spTgt spid="3">
                                            <p:txEl>
                                              <p:pRg st="7" end="7"/>
                                            </p:txEl>
                                          </p:spTgt>
                                        </p:tgtEl>
                                        <p:attrNameLst>
                                          <p:attrName>r</p:attrName>
                                        </p:attrNameLst>
                                      </p:cBhvr>
                                    </p:animRot>
                                    <p:animRot by="-1500000">
                                      <p:cBhvr>
                                        <p:cTn id="56" dur="125" fill="hold">
                                          <p:stCondLst>
                                            <p:cond delay="125"/>
                                          </p:stCondLst>
                                        </p:cTn>
                                        <p:tgtEl>
                                          <p:spTgt spid="3">
                                            <p:txEl>
                                              <p:pRg st="7" end="7"/>
                                            </p:txEl>
                                          </p:spTgt>
                                        </p:tgtEl>
                                        <p:attrNameLst>
                                          <p:attrName>r</p:attrName>
                                        </p:attrNameLst>
                                      </p:cBhvr>
                                    </p:animRot>
                                    <p:animRot by="-1500000">
                                      <p:cBhvr>
                                        <p:cTn id="57" dur="125" fill="hold">
                                          <p:stCondLst>
                                            <p:cond delay="250"/>
                                          </p:stCondLst>
                                        </p:cTn>
                                        <p:tgtEl>
                                          <p:spTgt spid="3">
                                            <p:txEl>
                                              <p:pRg st="7" end="7"/>
                                            </p:txEl>
                                          </p:spTgt>
                                        </p:tgtEl>
                                        <p:attrNameLst>
                                          <p:attrName>r</p:attrName>
                                        </p:attrNameLst>
                                      </p:cBhvr>
                                    </p:animRot>
                                    <p:animRot by="1500000">
                                      <p:cBhvr>
                                        <p:cTn id="58" dur="125" fill="hold">
                                          <p:stCondLst>
                                            <p:cond delay="375"/>
                                          </p:stCondLst>
                                        </p:cTn>
                                        <p:tgtEl>
                                          <p:spTgt spid="3">
                                            <p:txEl>
                                              <p:pRg st="7" end="7"/>
                                            </p:txEl>
                                          </p:spTgt>
                                        </p:tgtEl>
                                        <p:attrNameLst>
                                          <p:attrName>r</p:attrName>
                                        </p:attrNameLst>
                                      </p:cBhvr>
                                    </p:animRot>
                                  </p:childTnLst>
                                </p:cTn>
                              </p:par>
                              <p:par>
                                <p:cTn id="59" presetID="34" presetClass="emph" presetSubtype="0" fill="hold" nodeType="withEffect">
                                  <p:stCondLst>
                                    <p:cond delay="0"/>
                                  </p:stCondLst>
                                  <p:iterate type="lt">
                                    <p:tmPct val="10000"/>
                                  </p:iterate>
                                  <p:childTnLst>
                                    <p:animMotion origin="layout" path="M 0.0 0.0 L 0.0 -0.07213" pathEditMode="relative" ptsTypes="">
                                      <p:cBhvr>
                                        <p:cTn id="60" dur="250" accel="50000" decel="50000" autoRev="1" fill="hold">
                                          <p:stCondLst>
                                            <p:cond delay="0"/>
                                          </p:stCondLst>
                                        </p:cTn>
                                        <p:tgtEl>
                                          <p:spTgt spid="3">
                                            <p:txEl>
                                              <p:pRg st="8" end="8"/>
                                            </p:txEl>
                                          </p:spTgt>
                                        </p:tgtEl>
                                        <p:attrNameLst>
                                          <p:attrName>ppt_x</p:attrName>
                                          <p:attrName>ppt_y</p:attrName>
                                        </p:attrNameLst>
                                      </p:cBhvr>
                                    </p:animMotion>
                                    <p:animRot by="1500000">
                                      <p:cBhvr>
                                        <p:cTn id="61" dur="125" fill="hold">
                                          <p:stCondLst>
                                            <p:cond delay="0"/>
                                          </p:stCondLst>
                                        </p:cTn>
                                        <p:tgtEl>
                                          <p:spTgt spid="3">
                                            <p:txEl>
                                              <p:pRg st="8" end="8"/>
                                            </p:txEl>
                                          </p:spTgt>
                                        </p:tgtEl>
                                        <p:attrNameLst>
                                          <p:attrName>r</p:attrName>
                                        </p:attrNameLst>
                                      </p:cBhvr>
                                    </p:animRot>
                                    <p:animRot by="-1500000">
                                      <p:cBhvr>
                                        <p:cTn id="62" dur="125" fill="hold">
                                          <p:stCondLst>
                                            <p:cond delay="125"/>
                                          </p:stCondLst>
                                        </p:cTn>
                                        <p:tgtEl>
                                          <p:spTgt spid="3">
                                            <p:txEl>
                                              <p:pRg st="8" end="8"/>
                                            </p:txEl>
                                          </p:spTgt>
                                        </p:tgtEl>
                                        <p:attrNameLst>
                                          <p:attrName>r</p:attrName>
                                        </p:attrNameLst>
                                      </p:cBhvr>
                                    </p:animRot>
                                    <p:animRot by="-1500000">
                                      <p:cBhvr>
                                        <p:cTn id="63" dur="125" fill="hold">
                                          <p:stCondLst>
                                            <p:cond delay="250"/>
                                          </p:stCondLst>
                                        </p:cTn>
                                        <p:tgtEl>
                                          <p:spTgt spid="3">
                                            <p:txEl>
                                              <p:pRg st="8" end="8"/>
                                            </p:txEl>
                                          </p:spTgt>
                                        </p:tgtEl>
                                        <p:attrNameLst>
                                          <p:attrName>r</p:attrName>
                                        </p:attrNameLst>
                                      </p:cBhvr>
                                    </p:animRot>
                                    <p:animRot by="1500000">
                                      <p:cBhvr>
                                        <p:cTn id="64" dur="125" fill="hold">
                                          <p:stCondLst>
                                            <p:cond delay="375"/>
                                          </p:stCondLst>
                                        </p:cTn>
                                        <p:tgtEl>
                                          <p:spTgt spid="3">
                                            <p:txEl>
                                              <p:pRg st="8" end="8"/>
                                            </p:txEl>
                                          </p:spTgt>
                                        </p:tgtEl>
                                        <p:attrNameLst>
                                          <p:attrName>r</p:attrName>
                                        </p:attrNameLst>
                                      </p:cBhvr>
                                    </p:animRot>
                                  </p:childTnLst>
                                </p:cTn>
                              </p:par>
                              <p:par>
                                <p:cTn id="65" presetID="34" presetClass="emph" presetSubtype="0" fill="hold" nodeType="withEffect">
                                  <p:stCondLst>
                                    <p:cond delay="0"/>
                                  </p:stCondLst>
                                  <p:iterate type="lt">
                                    <p:tmPct val="10000"/>
                                  </p:iterate>
                                  <p:childTnLst>
                                    <p:animMotion origin="layout" path="M 0.0 0.0 L 0.0 -0.07213" pathEditMode="relative" ptsTypes="">
                                      <p:cBhvr>
                                        <p:cTn id="66" dur="250" accel="50000" decel="50000" autoRev="1" fill="hold">
                                          <p:stCondLst>
                                            <p:cond delay="0"/>
                                          </p:stCondLst>
                                        </p:cTn>
                                        <p:tgtEl>
                                          <p:spTgt spid="3">
                                            <p:txEl>
                                              <p:pRg st="9" end="9"/>
                                            </p:txEl>
                                          </p:spTgt>
                                        </p:tgtEl>
                                        <p:attrNameLst>
                                          <p:attrName>ppt_x</p:attrName>
                                          <p:attrName>ppt_y</p:attrName>
                                        </p:attrNameLst>
                                      </p:cBhvr>
                                    </p:animMotion>
                                    <p:animRot by="1500000">
                                      <p:cBhvr>
                                        <p:cTn id="67" dur="125" fill="hold">
                                          <p:stCondLst>
                                            <p:cond delay="0"/>
                                          </p:stCondLst>
                                        </p:cTn>
                                        <p:tgtEl>
                                          <p:spTgt spid="3">
                                            <p:txEl>
                                              <p:pRg st="9" end="9"/>
                                            </p:txEl>
                                          </p:spTgt>
                                        </p:tgtEl>
                                        <p:attrNameLst>
                                          <p:attrName>r</p:attrName>
                                        </p:attrNameLst>
                                      </p:cBhvr>
                                    </p:animRot>
                                    <p:animRot by="-1500000">
                                      <p:cBhvr>
                                        <p:cTn id="68" dur="125" fill="hold">
                                          <p:stCondLst>
                                            <p:cond delay="125"/>
                                          </p:stCondLst>
                                        </p:cTn>
                                        <p:tgtEl>
                                          <p:spTgt spid="3">
                                            <p:txEl>
                                              <p:pRg st="9" end="9"/>
                                            </p:txEl>
                                          </p:spTgt>
                                        </p:tgtEl>
                                        <p:attrNameLst>
                                          <p:attrName>r</p:attrName>
                                        </p:attrNameLst>
                                      </p:cBhvr>
                                    </p:animRot>
                                    <p:animRot by="-1500000">
                                      <p:cBhvr>
                                        <p:cTn id="69" dur="125" fill="hold">
                                          <p:stCondLst>
                                            <p:cond delay="250"/>
                                          </p:stCondLst>
                                        </p:cTn>
                                        <p:tgtEl>
                                          <p:spTgt spid="3">
                                            <p:txEl>
                                              <p:pRg st="9" end="9"/>
                                            </p:txEl>
                                          </p:spTgt>
                                        </p:tgtEl>
                                        <p:attrNameLst>
                                          <p:attrName>r</p:attrName>
                                        </p:attrNameLst>
                                      </p:cBhvr>
                                    </p:animRot>
                                    <p:animRot by="1500000">
                                      <p:cBhvr>
                                        <p:cTn id="70" dur="125" fill="hold">
                                          <p:stCondLst>
                                            <p:cond delay="375"/>
                                          </p:stCondLst>
                                        </p:cTn>
                                        <p:tgtEl>
                                          <p:spTgt spid="3">
                                            <p:txEl>
                                              <p:pRg st="9" end="9"/>
                                            </p:txEl>
                                          </p:spTgt>
                                        </p:tgtEl>
                                        <p:attrNameLst>
                                          <p:attrName>r</p:attrName>
                                        </p:attrNameLst>
                                      </p:cBhvr>
                                    </p:animRot>
                                  </p:childTnLst>
                                </p:cTn>
                              </p:par>
                              <p:par>
                                <p:cTn id="71" presetID="34" presetClass="emph" presetSubtype="0" fill="hold" nodeType="withEffect">
                                  <p:stCondLst>
                                    <p:cond delay="0"/>
                                  </p:stCondLst>
                                  <p:iterate type="lt">
                                    <p:tmPct val="10000"/>
                                  </p:iterate>
                                  <p:childTnLst>
                                    <p:animMotion origin="layout" path="M 0.0 0.0 L 0.0 -0.07213" pathEditMode="relative" ptsTypes="">
                                      <p:cBhvr>
                                        <p:cTn id="72" dur="250" accel="50000" decel="50000" autoRev="1" fill="hold">
                                          <p:stCondLst>
                                            <p:cond delay="0"/>
                                          </p:stCondLst>
                                        </p:cTn>
                                        <p:tgtEl>
                                          <p:spTgt spid="3">
                                            <p:txEl>
                                              <p:pRg st="10" end="10"/>
                                            </p:txEl>
                                          </p:spTgt>
                                        </p:tgtEl>
                                        <p:attrNameLst>
                                          <p:attrName>ppt_x</p:attrName>
                                          <p:attrName>ppt_y</p:attrName>
                                        </p:attrNameLst>
                                      </p:cBhvr>
                                    </p:animMotion>
                                    <p:animRot by="1500000">
                                      <p:cBhvr>
                                        <p:cTn id="73" dur="125" fill="hold">
                                          <p:stCondLst>
                                            <p:cond delay="0"/>
                                          </p:stCondLst>
                                        </p:cTn>
                                        <p:tgtEl>
                                          <p:spTgt spid="3">
                                            <p:txEl>
                                              <p:pRg st="10" end="10"/>
                                            </p:txEl>
                                          </p:spTgt>
                                        </p:tgtEl>
                                        <p:attrNameLst>
                                          <p:attrName>r</p:attrName>
                                        </p:attrNameLst>
                                      </p:cBhvr>
                                    </p:animRot>
                                    <p:animRot by="-1500000">
                                      <p:cBhvr>
                                        <p:cTn id="74" dur="125" fill="hold">
                                          <p:stCondLst>
                                            <p:cond delay="125"/>
                                          </p:stCondLst>
                                        </p:cTn>
                                        <p:tgtEl>
                                          <p:spTgt spid="3">
                                            <p:txEl>
                                              <p:pRg st="10" end="10"/>
                                            </p:txEl>
                                          </p:spTgt>
                                        </p:tgtEl>
                                        <p:attrNameLst>
                                          <p:attrName>r</p:attrName>
                                        </p:attrNameLst>
                                      </p:cBhvr>
                                    </p:animRot>
                                    <p:animRot by="-1500000">
                                      <p:cBhvr>
                                        <p:cTn id="75" dur="125" fill="hold">
                                          <p:stCondLst>
                                            <p:cond delay="250"/>
                                          </p:stCondLst>
                                        </p:cTn>
                                        <p:tgtEl>
                                          <p:spTgt spid="3">
                                            <p:txEl>
                                              <p:pRg st="10" end="10"/>
                                            </p:txEl>
                                          </p:spTgt>
                                        </p:tgtEl>
                                        <p:attrNameLst>
                                          <p:attrName>r</p:attrName>
                                        </p:attrNameLst>
                                      </p:cBhvr>
                                    </p:animRot>
                                    <p:animRot by="1500000">
                                      <p:cBhvr>
                                        <p:cTn id="76" dur="125" fill="hold">
                                          <p:stCondLst>
                                            <p:cond delay="375"/>
                                          </p:stCondLst>
                                        </p:cTn>
                                        <p:tgtEl>
                                          <p:spTgt spid="3">
                                            <p:txEl>
                                              <p:pRg st="10" end="10"/>
                                            </p:txEl>
                                          </p:spTgt>
                                        </p:tgtEl>
                                        <p:attrNameLst>
                                          <p:attrName>r</p:attrName>
                                        </p:attrNameLst>
                                      </p:cBhvr>
                                    </p:animRot>
                                  </p:childTnLst>
                                </p:cTn>
                              </p:par>
                              <p:par>
                                <p:cTn id="77" presetID="34" presetClass="emph" presetSubtype="0" fill="hold" nodeType="withEffect">
                                  <p:stCondLst>
                                    <p:cond delay="0"/>
                                  </p:stCondLst>
                                  <p:iterate type="lt">
                                    <p:tmPct val="10000"/>
                                  </p:iterate>
                                  <p:childTnLst>
                                    <p:animMotion origin="layout" path="M 0.0 0.0 L 0.0 -0.07213" pathEditMode="relative" ptsTypes="">
                                      <p:cBhvr>
                                        <p:cTn id="78" dur="250" accel="50000" decel="50000" autoRev="1" fill="hold">
                                          <p:stCondLst>
                                            <p:cond delay="0"/>
                                          </p:stCondLst>
                                        </p:cTn>
                                        <p:tgtEl>
                                          <p:spTgt spid="3">
                                            <p:txEl>
                                              <p:pRg st="11" end="11"/>
                                            </p:txEl>
                                          </p:spTgt>
                                        </p:tgtEl>
                                        <p:attrNameLst>
                                          <p:attrName>ppt_x</p:attrName>
                                          <p:attrName>ppt_y</p:attrName>
                                        </p:attrNameLst>
                                      </p:cBhvr>
                                    </p:animMotion>
                                    <p:animRot by="1500000">
                                      <p:cBhvr>
                                        <p:cTn id="79" dur="125" fill="hold">
                                          <p:stCondLst>
                                            <p:cond delay="0"/>
                                          </p:stCondLst>
                                        </p:cTn>
                                        <p:tgtEl>
                                          <p:spTgt spid="3">
                                            <p:txEl>
                                              <p:pRg st="11" end="11"/>
                                            </p:txEl>
                                          </p:spTgt>
                                        </p:tgtEl>
                                        <p:attrNameLst>
                                          <p:attrName>r</p:attrName>
                                        </p:attrNameLst>
                                      </p:cBhvr>
                                    </p:animRot>
                                    <p:animRot by="-1500000">
                                      <p:cBhvr>
                                        <p:cTn id="80" dur="125" fill="hold">
                                          <p:stCondLst>
                                            <p:cond delay="125"/>
                                          </p:stCondLst>
                                        </p:cTn>
                                        <p:tgtEl>
                                          <p:spTgt spid="3">
                                            <p:txEl>
                                              <p:pRg st="11" end="11"/>
                                            </p:txEl>
                                          </p:spTgt>
                                        </p:tgtEl>
                                        <p:attrNameLst>
                                          <p:attrName>r</p:attrName>
                                        </p:attrNameLst>
                                      </p:cBhvr>
                                    </p:animRot>
                                    <p:animRot by="-1500000">
                                      <p:cBhvr>
                                        <p:cTn id="81" dur="125" fill="hold">
                                          <p:stCondLst>
                                            <p:cond delay="250"/>
                                          </p:stCondLst>
                                        </p:cTn>
                                        <p:tgtEl>
                                          <p:spTgt spid="3">
                                            <p:txEl>
                                              <p:pRg st="11" end="11"/>
                                            </p:txEl>
                                          </p:spTgt>
                                        </p:tgtEl>
                                        <p:attrNameLst>
                                          <p:attrName>r</p:attrName>
                                        </p:attrNameLst>
                                      </p:cBhvr>
                                    </p:animRot>
                                    <p:animRot by="1500000">
                                      <p:cBhvr>
                                        <p:cTn id="82" dur="125" fill="hold">
                                          <p:stCondLst>
                                            <p:cond delay="375"/>
                                          </p:stCondLst>
                                        </p:cTn>
                                        <p:tgtEl>
                                          <p:spTgt spid="3">
                                            <p:txEl>
                                              <p:pRg st="11" end="11"/>
                                            </p:txEl>
                                          </p:spTgt>
                                        </p:tgtEl>
                                        <p:attrNameLst>
                                          <p:attrName>r</p:attrName>
                                        </p:attrNameLst>
                                      </p:cBhvr>
                                    </p:animRot>
                                  </p:childTnLst>
                                </p:cTn>
                              </p:par>
                              <p:par>
                                <p:cTn id="83" presetID="34" presetClass="emph" presetSubtype="0" fill="hold" nodeType="withEffect">
                                  <p:stCondLst>
                                    <p:cond delay="0"/>
                                  </p:stCondLst>
                                  <p:iterate type="lt">
                                    <p:tmPct val="10000"/>
                                  </p:iterate>
                                  <p:childTnLst>
                                    <p:animMotion origin="layout" path="M 0.0 0.0 L 0.0 -0.07213" pathEditMode="relative" ptsTypes="">
                                      <p:cBhvr>
                                        <p:cTn id="84" dur="250" accel="50000" decel="50000" autoRev="1" fill="hold">
                                          <p:stCondLst>
                                            <p:cond delay="0"/>
                                          </p:stCondLst>
                                        </p:cTn>
                                        <p:tgtEl>
                                          <p:spTgt spid="3">
                                            <p:txEl>
                                              <p:pRg st="12" end="12"/>
                                            </p:txEl>
                                          </p:spTgt>
                                        </p:tgtEl>
                                        <p:attrNameLst>
                                          <p:attrName>ppt_x</p:attrName>
                                          <p:attrName>ppt_y</p:attrName>
                                        </p:attrNameLst>
                                      </p:cBhvr>
                                    </p:animMotion>
                                    <p:animRot by="1500000">
                                      <p:cBhvr>
                                        <p:cTn id="85" dur="125" fill="hold">
                                          <p:stCondLst>
                                            <p:cond delay="0"/>
                                          </p:stCondLst>
                                        </p:cTn>
                                        <p:tgtEl>
                                          <p:spTgt spid="3">
                                            <p:txEl>
                                              <p:pRg st="12" end="12"/>
                                            </p:txEl>
                                          </p:spTgt>
                                        </p:tgtEl>
                                        <p:attrNameLst>
                                          <p:attrName>r</p:attrName>
                                        </p:attrNameLst>
                                      </p:cBhvr>
                                    </p:animRot>
                                    <p:animRot by="-1500000">
                                      <p:cBhvr>
                                        <p:cTn id="86" dur="125" fill="hold">
                                          <p:stCondLst>
                                            <p:cond delay="125"/>
                                          </p:stCondLst>
                                        </p:cTn>
                                        <p:tgtEl>
                                          <p:spTgt spid="3">
                                            <p:txEl>
                                              <p:pRg st="12" end="12"/>
                                            </p:txEl>
                                          </p:spTgt>
                                        </p:tgtEl>
                                        <p:attrNameLst>
                                          <p:attrName>r</p:attrName>
                                        </p:attrNameLst>
                                      </p:cBhvr>
                                    </p:animRot>
                                    <p:animRot by="-1500000">
                                      <p:cBhvr>
                                        <p:cTn id="87" dur="125" fill="hold">
                                          <p:stCondLst>
                                            <p:cond delay="250"/>
                                          </p:stCondLst>
                                        </p:cTn>
                                        <p:tgtEl>
                                          <p:spTgt spid="3">
                                            <p:txEl>
                                              <p:pRg st="12" end="12"/>
                                            </p:txEl>
                                          </p:spTgt>
                                        </p:tgtEl>
                                        <p:attrNameLst>
                                          <p:attrName>r</p:attrName>
                                        </p:attrNameLst>
                                      </p:cBhvr>
                                    </p:animRot>
                                    <p:animRot by="1500000">
                                      <p:cBhvr>
                                        <p:cTn id="88" dur="125" fill="hold">
                                          <p:stCondLst>
                                            <p:cond delay="375"/>
                                          </p:stCondLst>
                                        </p:cTn>
                                        <p:tgtEl>
                                          <p:spTgt spid="3">
                                            <p:txEl>
                                              <p:pRg st="12" end="12"/>
                                            </p:txEl>
                                          </p:spTgt>
                                        </p:tgtEl>
                                        <p:attrNameLst>
                                          <p:attrName>r</p:attrName>
                                        </p:attrNameLst>
                                      </p:cBhvr>
                                    </p:animRot>
                                  </p:childTnLst>
                                </p:cTn>
                              </p:par>
                              <p:par>
                                <p:cTn id="89" presetID="34" presetClass="emph" presetSubtype="0" fill="hold" nodeType="withEffect">
                                  <p:stCondLst>
                                    <p:cond delay="0"/>
                                  </p:stCondLst>
                                  <p:iterate type="lt">
                                    <p:tmPct val="10000"/>
                                  </p:iterate>
                                  <p:childTnLst>
                                    <p:animMotion origin="layout" path="M 0.0 0.0 L 0.0 -0.07213" pathEditMode="relative" ptsTypes="">
                                      <p:cBhvr>
                                        <p:cTn id="90" dur="250" accel="50000" decel="50000" autoRev="1" fill="hold">
                                          <p:stCondLst>
                                            <p:cond delay="0"/>
                                          </p:stCondLst>
                                        </p:cTn>
                                        <p:tgtEl>
                                          <p:spTgt spid="3">
                                            <p:txEl>
                                              <p:pRg st="13" end="13"/>
                                            </p:txEl>
                                          </p:spTgt>
                                        </p:tgtEl>
                                        <p:attrNameLst>
                                          <p:attrName>ppt_x</p:attrName>
                                          <p:attrName>ppt_y</p:attrName>
                                        </p:attrNameLst>
                                      </p:cBhvr>
                                    </p:animMotion>
                                    <p:animRot by="1500000">
                                      <p:cBhvr>
                                        <p:cTn id="91" dur="125" fill="hold">
                                          <p:stCondLst>
                                            <p:cond delay="0"/>
                                          </p:stCondLst>
                                        </p:cTn>
                                        <p:tgtEl>
                                          <p:spTgt spid="3">
                                            <p:txEl>
                                              <p:pRg st="13" end="13"/>
                                            </p:txEl>
                                          </p:spTgt>
                                        </p:tgtEl>
                                        <p:attrNameLst>
                                          <p:attrName>r</p:attrName>
                                        </p:attrNameLst>
                                      </p:cBhvr>
                                    </p:animRot>
                                    <p:animRot by="-1500000">
                                      <p:cBhvr>
                                        <p:cTn id="92" dur="125" fill="hold">
                                          <p:stCondLst>
                                            <p:cond delay="125"/>
                                          </p:stCondLst>
                                        </p:cTn>
                                        <p:tgtEl>
                                          <p:spTgt spid="3">
                                            <p:txEl>
                                              <p:pRg st="13" end="13"/>
                                            </p:txEl>
                                          </p:spTgt>
                                        </p:tgtEl>
                                        <p:attrNameLst>
                                          <p:attrName>r</p:attrName>
                                        </p:attrNameLst>
                                      </p:cBhvr>
                                    </p:animRot>
                                    <p:animRot by="-1500000">
                                      <p:cBhvr>
                                        <p:cTn id="93" dur="125" fill="hold">
                                          <p:stCondLst>
                                            <p:cond delay="250"/>
                                          </p:stCondLst>
                                        </p:cTn>
                                        <p:tgtEl>
                                          <p:spTgt spid="3">
                                            <p:txEl>
                                              <p:pRg st="13" end="13"/>
                                            </p:txEl>
                                          </p:spTgt>
                                        </p:tgtEl>
                                        <p:attrNameLst>
                                          <p:attrName>r</p:attrName>
                                        </p:attrNameLst>
                                      </p:cBhvr>
                                    </p:animRot>
                                    <p:animRot by="1500000">
                                      <p:cBhvr>
                                        <p:cTn id="94" dur="125" fill="hold">
                                          <p:stCondLst>
                                            <p:cond delay="375"/>
                                          </p:stCondLst>
                                        </p:cTn>
                                        <p:tgtEl>
                                          <p:spTgt spid="3">
                                            <p:txEl>
                                              <p:pRg st="13" end="13"/>
                                            </p:txEl>
                                          </p:spTgt>
                                        </p:tgtEl>
                                        <p:attrNameLst>
                                          <p:attrName>r</p:attrName>
                                        </p:attrNameLst>
                                      </p:cBhvr>
                                    </p:animRot>
                                  </p:childTnLst>
                                </p:cTn>
                              </p:par>
                              <p:par>
                                <p:cTn id="95" presetID="34" presetClass="emph" presetSubtype="0" fill="hold" nodeType="withEffect">
                                  <p:stCondLst>
                                    <p:cond delay="0"/>
                                  </p:stCondLst>
                                  <p:iterate type="lt">
                                    <p:tmPct val="10000"/>
                                  </p:iterate>
                                  <p:childTnLst>
                                    <p:animMotion origin="layout" path="M 0.0 0.0 L 0.0 -0.07213" pathEditMode="relative" ptsTypes="">
                                      <p:cBhvr>
                                        <p:cTn id="96" dur="250" accel="50000" decel="50000" autoRev="1" fill="hold">
                                          <p:stCondLst>
                                            <p:cond delay="0"/>
                                          </p:stCondLst>
                                        </p:cTn>
                                        <p:tgtEl>
                                          <p:spTgt spid="3">
                                            <p:txEl>
                                              <p:pRg st="14" end="14"/>
                                            </p:txEl>
                                          </p:spTgt>
                                        </p:tgtEl>
                                        <p:attrNameLst>
                                          <p:attrName>ppt_x</p:attrName>
                                          <p:attrName>ppt_y</p:attrName>
                                        </p:attrNameLst>
                                      </p:cBhvr>
                                    </p:animMotion>
                                    <p:animRot by="1500000">
                                      <p:cBhvr>
                                        <p:cTn id="97" dur="125" fill="hold">
                                          <p:stCondLst>
                                            <p:cond delay="0"/>
                                          </p:stCondLst>
                                        </p:cTn>
                                        <p:tgtEl>
                                          <p:spTgt spid="3">
                                            <p:txEl>
                                              <p:pRg st="14" end="14"/>
                                            </p:txEl>
                                          </p:spTgt>
                                        </p:tgtEl>
                                        <p:attrNameLst>
                                          <p:attrName>r</p:attrName>
                                        </p:attrNameLst>
                                      </p:cBhvr>
                                    </p:animRot>
                                    <p:animRot by="-1500000">
                                      <p:cBhvr>
                                        <p:cTn id="98" dur="125" fill="hold">
                                          <p:stCondLst>
                                            <p:cond delay="125"/>
                                          </p:stCondLst>
                                        </p:cTn>
                                        <p:tgtEl>
                                          <p:spTgt spid="3">
                                            <p:txEl>
                                              <p:pRg st="14" end="14"/>
                                            </p:txEl>
                                          </p:spTgt>
                                        </p:tgtEl>
                                        <p:attrNameLst>
                                          <p:attrName>r</p:attrName>
                                        </p:attrNameLst>
                                      </p:cBhvr>
                                    </p:animRot>
                                    <p:animRot by="-1500000">
                                      <p:cBhvr>
                                        <p:cTn id="99" dur="125" fill="hold">
                                          <p:stCondLst>
                                            <p:cond delay="250"/>
                                          </p:stCondLst>
                                        </p:cTn>
                                        <p:tgtEl>
                                          <p:spTgt spid="3">
                                            <p:txEl>
                                              <p:pRg st="14" end="14"/>
                                            </p:txEl>
                                          </p:spTgt>
                                        </p:tgtEl>
                                        <p:attrNameLst>
                                          <p:attrName>r</p:attrName>
                                        </p:attrNameLst>
                                      </p:cBhvr>
                                    </p:animRot>
                                    <p:animRot by="1500000">
                                      <p:cBhvr>
                                        <p:cTn id="100" dur="125" fill="hold">
                                          <p:stCondLst>
                                            <p:cond delay="375"/>
                                          </p:stCondLst>
                                        </p:cTn>
                                        <p:tgtEl>
                                          <p:spTgt spid="3">
                                            <p:txEl>
                                              <p:pRg st="14" end="14"/>
                                            </p:txEl>
                                          </p:spTgt>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F9074-171D-4717-9BBC-8C8CA5069917}"/>
              </a:ext>
            </a:extLst>
          </p:cNvPr>
          <p:cNvSpPr>
            <a:spLocks noGrp="1"/>
          </p:cNvSpPr>
          <p:nvPr>
            <p:ph type="title"/>
          </p:nvPr>
        </p:nvSpPr>
        <p:spPr/>
        <p:txBody>
          <a:bodyPr/>
          <a:lstStyle/>
          <a:p>
            <a:r>
              <a:rPr lang="en-US" b="1" u="sng" dirty="0">
                <a:solidFill>
                  <a:srgbClr val="B01513"/>
                </a:solidFill>
                <a:latin typeface="Times New Roman" panose="02020603050405020304" pitchFamily="18" charset="0"/>
                <a:cs typeface="Times New Roman" panose="02020603050405020304" pitchFamily="18" charset="0"/>
              </a:rPr>
              <a:t>HARDWARE Requirements</a:t>
            </a:r>
            <a:endParaRPr lang="en-US" dirty="0">
              <a:solidFill>
                <a:srgbClr val="B01513"/>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9785E82-2A83-470A-B582-FBB31CFEB33D}"/>
              </a:ext>
            </a:extLst>
          </p:cNvPr>
          <p:cNvSpPr>
            <a:spLocks noGrp="1"/>
          </p:cNvSpPr>
          <p:nvPr>
            <p:ph idx="1"/>
          </p:nvPr>
        </p:nvSpPr>
        <p:spPr/>
        <p:txBody>
          <a:bodyPr/>
          <a:lstStyle/>
          <a:p>
            <a:pPr marL="0" indent="0">
              <a:buNone/>
            </a:pPr>
            <a:endParaRPr lang="en-US" dirty="0"/>
          </a:p>
          <a:p>
            <a:pPr lvl="0"/>
            <a:r>
              <a:rPr lang="en-GB" dirty="0"/>
              <a:t>SYSTEM		: Pentium IV 2.4 GHz</a:t>
            </a:r>
            <a:endParaRPr lang="en-US" dirty="0"/>
          </a:p>
          <a:p>
            <a:pPr lvl="0"/>
            <a:r>
              <a:rPr lang="en-GB" dirty="0"/>
              <a:t>HARD DISK		: 40 GB</a:t>
            </a:r>
            <a:endParaRPr lang="en-US" dirty="0"/>
          </a:p>
          <a:p>
            <a:pPr lvl="0"/>
            <a:r>
              <a:rPr lang="en-GB" dirty="0"/>
              <a:t>FLOPPY DRIVE	: 1.44 MB</a:t>
            </a:r>
            <a:endParaRPr lang="en-US" dirty="0"/>
          </a:p>
          <a:p>
            <a:pPr lvl="0"/>
            <a:r>
              <a:rPr lang="en-GB" dirty="0"/>
              <a:t>MONITOR		: 15 VGA colour</a:t>
            </a:r>
            <a:endParaRPr lang="en-US" dirty="0"/>
          </a:p>
          <a:p>
            <a:pPr lvl="0"/>
            <a:r>
              <a:rPr lang="en-GB" dirty="0"/>
              <a:t>MOUSE		: Logitech.</a:t>
            </a:r>
            <a:endParaRPr lang="en-US" dirty="0"/>
          </a:p>
          <a:p>
            <a:pPr lvl="0"/>
            <a:r>
              <a:rPr lang="en-GB" dirty="0"/>
              <a:t>RAM		: 256 MB</a:t>
            </a:r>
            <a:endParaRPr lang="en-US" dirty="0"/>
          </a:p>
          <a:p>
            <a:endParaRPr lang="en-US" dirty="0"/>
          </a:p>
        </p:txBody>
      </p:sp>
    </p:spTree>
    <p:extLst>
      <p:ext uri="{BB962C8B-B14F-4D97-AF65-F5344CB8AC3E}">
        <p14:creationId xmlns:p14="http://schemas.microsoft.com/office/powerpoint/2010/main" val="737642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grpId="0" nodeType="clickEffect">
                                  <p:stCondLst>
                                    <p:cond delay="0"/>
                                  </p:stCondLst>
                                  <p:childTnLst>
                                    <p:animClr clrSpc="rgb" dir="cw">
                                      <p:cBhvr override="childStyle">
                                        <p:cTn id="6" dur="2000" fill="hold"/>
                                        <p:tgtEl>
                                          <p:spTgt spid="2"/>
                                        </p:tgtEl>
                                        <p:attrNameLst>
                                          <p:attrName>style.color</p:attrName>
                                        </p:attrNameLst>
                                      </p:cBhvr>
                                      <p:to>
                                        <a:schemeClr val="accent2"/>
                                      </p:to>
                                    </p:animClr>
                                  </p:childTnLst>
                                </p:cTn>
                              </p:par>
                            </p:childTnLst>
                          </p:cTn>
                        </p:par>
                      </p:childTnLst>
                    </p:cTn>
                  </p:par>
                  <p:par>
                    <p:cTn id="7" fill="hold">
                      <p:stCondLst>
                        <p:cond delay="indefinite"/>
                      </p:stCondLst>
                      <p:childTnLst>
                        <p:par>
                          <p:cTn id="8" fill="hold">
                            <p:stCondLst>
                              <p:cond delay="0"/>
                            </p:stCondLst>
                            <p:childTnLst>
                              <p:par>
                                <p:cTn id="9" presetID="37" presetClass="path" presetSubtype="0" accel="50000" decel="50000" fill="hold" nodeType="clickEffect">
                                  <p:stCondLst>
                                    <p:cond delay="0"/>
                                  </p:stCondLst>
                                  <p:childTnLst>
                                    <p:animMotion origin="layout" path="M 0 0 L 0.067 0.04 C 0.081 0.049 0.102 0.054 0.124 0.054 C 0.149 0.054 0.169 0.049 0.183 0.04 L 0.25 0 E" pathEditMode="relative" ptsTypes="">
                                      <p:cBhvr>
                                        <p:cTn id="10" dur="2000" fill="hold"/>
                                        <p:tgtEl>
                                          <p:spTgt spid="3">
                                            <p:txEl>
                                              <p:pRg st="1" end="1"/>
                                            </p:txEl>
                                          </p:spTgt>
                                        </p:tgtEl>
                                        <p:attrNameLst>
                                          <p:attrName>ppt_x</p:attrName>
                                          <p:attrName>ppt_y</p:attrName>
                                        </p:attrNameLst>
                                      </p:cBhvr>
                                    </p:animMotion>
                                  </p:childTnLst>
                                </p:cTn>
                              </p:par>
                              <p:par>
                                <p:cTn id="11" presetID="37" presetClass="path" presetSubtype="0" accel="50000" decel="50000" fill="hold" nodeType="withEffect">
                                  <p:stCondLst>
                                    <p:cond delay="0"/>
                                  </p:stCondLst>
                                  <p:childTnLst>
                                    <p:animMotion origin="layout" path="M 0 0 L 0.067 0.04 C 0.081 0.049 0.102 0.054 0.124 0.054 C 0.149 0.054 0.169 0.049 0.183 0.04 L 0.25 0 E" pathEditMode="relative" ptsTypes="">
                                      <p:cBhvr>
                                        <p:cTn id="12" dur="2000" fill="hold"/>
                                        <p:tgtEl>
                                          <p:spTgt spid="3">
                                            <p:txEl>
                                              <p:pRg st="2" end="2"/>
                                            </p:txEl>
                                          </p:spTgt>
                                        </p:tgtEl>
                                        <p:attrNameLst>
                                          <p:attrName>ppt_x</p:attrName>
                                          <p:attrName>ppt_y</p:attrName>
                                        </p:attrNameLst>
                                      </p:cBhvr>
                                    </p:animMotion>
                                  </p:childTnLst>
                                </p:cTn>
                              </p:par>
                              <p:par>
                                <p:cTn id="13" presetID="37" presetClass="path" presetSubtype="0" accel="50000" decel="50000" fill="hold" nodeType="withEffect">
                                  <p:stCondLst>
                                    <p:cond delay="0"/>
                                  </p:stCondLst>
                                  <p:childTnLst>
                                    <p:animMotion origin="layout" path="M 0 0 L 0.067 0.04 C 0.081 0.049 0.102 0.054 0.124 0.054 C 0.149 0.054 0.169 0.049 0.183 0.04 L 0.25 0 E" pathEditMode="relative" ptsTypes="">
                                      <p:cBhvr>
                                        <p:cTn id="14" dur="2000" fill="hold"/>
                                        <p:tgtEl>
                                          <p:spTgt spid="3">
                                            <p:txEl>
                                              <p:pRg st="3" end="3"/>
                                            </p:txEl>
                                          </p:spTgt>
                                        </p:tgtEl>
                                        <p:attrNameLst>
                                          <p:attrName>ppt_x</p:attrName>
                                          <p:attrName>ppt_y</p:attrName>
                                        </p:attrNameLst>
                                      </p:cBhvr>
                                    </p:animMotion>
                                  </p:childTnLst>
                                </p:cTn>
                              </p:par>
                              <p:par>
                                <p:cTn id="15" presetID="37" presetClass="path" presetSubtype="0" accel="50000" decel="50000" fill="hold" nodeType="withEffect">
                                  <p:stCondLst>
                                    <p:cond delay="0"/>
                                  </p:stCondLst>
                                  <p:childTnLst>
                                    <p:animMotion origin="layout" path="M 0 0 L 0.067 0.04 C 0.081 0.049 0.102 0.054 0.124 0.054 C 0.149 0.054 0.169 0.049 0.183 0.04 L 0.25 0 E" pathEditMode="relative" ptsTypes="">
                                      <p:cBhvr>
                                        <p:cTn id="16" dur="2000" fill="hold"/>
                                        <p:tgtEl>
                                          <p:spTgt spid="3">
                                            <p:txEl>
                                              <p:pRg st="4" end="4"/>
                                            </p:txEl>
                                          </p:spTgt>
                                        </p:tgtEl>
                                        <p:attrNameLst>
                                          <p:attrName>ppt_x</p:attrName>
                                          <p:attrName>ppt_y</p:attrName>
                                        </p:attrNameLst>
                                      </p:cBhvr>
                                    </p:animMotion>
                                  </p:childTnLst>
                                </p:cTn>
                              </p:par>
                              <p:par>
                                <p:cTn id="17" presetID="37" presetClass="path" presetSubtype="0" accel="50000" decel="50000" fill="hold" nodeType="withEffect">
                                  <p:stCondLst>
                                    <p:cond delay="0"/>
                                  </p:stCondLst>
                                  <p:childTnLst>
                                    <p:animMotion origin="layout" path="M 0 0 L 0.067 0.04 C 0.081 0.049 0.102 0.054 0.124 0.054 C 0.149 0.054 0.169 0.049 0.183 0.04 L 0.25 0 E" pathEditMode="relative" ptsTypes="">
                                      <p:cBhvr>
                                        <p:cTn id="18" dur="2000" fill="hold"/>
                                        <p:tgtEl>
                                          <p:spTgt spid="3">
                                            <p:txEl>
                                              <p:pRg st="5" end="5"/>
                                            </p:txEl>
                                          </p:spTgt>
                                        </p:tgtEl>
                                        <p:attrNameLst>
                                          <p:attrName>ppt_x</p:attrName>
                                          <p:attrName>ppt_y</p:attrName>
                                        </p:attrNameLst>
                                      </p:cBhvr>
                                    </p:animMotion>
                                  </p:childTnLst>
                                </p:cTn>
                              </p:par>
                              <p:par>
                                <p:cTn id="19" presetID="37" presetClass="path" presetSubtype="0" accel="50000" decel="50000" fill="hold" nodeType="withEffect">
                                  <p:stCondLst>
                                    <p:cond delay="0"/>
                                  </p:stCondLst>
                                  <p:childTnLst>
                                    <p:animMotion origin="layout" path="M 0 0 L 0.067 0.04 C 0.081 0.049 0.102 0.054 0.124 0.054 C 0.149 0.054 0.169 0.049 0.183 0.04 L 0.25 0 E" pathEditMode="relative" ptsTypes="">
                                      <p:cBhvr>
                                        <p:cTn id="20" dur="2000" fill="hold"/>
                                        <p:tgtEl>
                                          <p:spTgt spid="3">
                                            <p:txEl>
                                              <p:pRg st="6" end="6"/>
                                            </p:txEl>
                                          </p:spTgt>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F2C72D-046E-4096-A085-1759B4B1883C}"/>
              </a:ext>
            </a:extLst>
          </p:cNvPr>
          <p:cNvSpPr>
            <a:spLocks noGrp="1"/>
          </p:cNvSpPr>
          <p:nvPr>
            <p:ph type="title"/>
          </p:nvPr>
        </p:nvSpPr>
        <p:spPr/>
        <p:txBody>
          <a:bodyPr/>
          <a:lstStyle/>
          <a:p>
            <a:r>
              <a:rPr lang="en-US" b="1" u="sng" dirty="0">
                <a:solidFill>
                  <a:srgbClr val="B01513"/>
                </a:solidFill>
                <a:latin typeface="Times New Roman" panose="02020603050405020304" pitchFamily="18" charset="0"/>
                <a:cs typeface="Times New Roman" panose="02020603050405020304" pitchFamily="18" charset="0"/>
              </a:rPr>
              <a:t>SOFTWARE Requirements</a:t>
            </a:r>
            <a:endParaRPr lang="en-US" dirty="0">
              <a:solidFill>
                <a:srgbClr val="B01513"/>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AFED75D-5307-43DA-980E-B75048A1D694}"/>
              </a:ext>
            </a:extLst>
          </p:cNvPr>
          <p:cNvSpPr>
            <a:spLocks noGrp="1"/>
          </p:cNvSpPr>
          <p:nvPr>
            <p:ph idx="1"/>
          </p:nvPr>
        </p:nvSpPr>
        <p:spPr/>
        <p:txBody>
          <a:bodyPr/>
          <a:lstStyle/>
          <a:p>
            <a:pPr lvl="0"/>
            <a:r>
              <a:rPr lang="en-US" dirty="0"/>
              <a:t>Operating system :-  Windows</a:t>
            </a:r>
          </a:p>
          <a:p>
            <a:pPr lvl="0"/>
            <a:r>
              <a:rPr lang="en-US" dirty="0"/>
              <a:t>Front End  : Anaconda </a:t>
            </a:r>
            <a:r>
              <a:rPr lang="en-US" dirty="0" err="1"/>
              <a:t>iDE</a:t>
            </a:r>
            <a:endParaRPr lang="en-US" dirty="0"/>
          </a:p>
          <a:p>
            <a:pPr lvl="0"/>
            <a:r>
              <a:rPr lang="en-US" dirty="0"/>
              <a:t>Coding Language	: Python</a:t>
            </a:r>
          </a:p>
          <a:p>
            <a:pPr lvl="0"/>
            <a:r>
              <a:rPr lang="en-US" dirty="0"/>
              <a:t>Back-End: -  </a:t>
            </a:r>
            <a:r>
              <a:rPr lang="en-US" dirty="0" err="1"/>
              <a:t>Sql</a:t>
            </a:r>
            <a:r>
              <a:rPr lang="en-US" dirty="0"/>
              <a:t> </a:t>
            </a:r>
          </a:p>
        </p:txBody>
      </p:sp>
    </p:spTree>
    <p:extLst>
      <p:ext uri="{BB962C8B-B14F-4D97-AF65-F5344CB8AC3E}">
        <p14:creationId xmlns:p14="http://schemas.microsoft.com/office/powerpoint/2010/main" val="3664844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path" presetSubtype="0" accel="50000" decel="50000" fill="hold" grpId="0" nodeType="clickEffect">
                                  <p:stCondLst>
                                    <p:cond delay="0"/>
                                  </p:stCondLst>
                                  <p:childTnLst>
                                    <p:animMotion origin="layout" path="M 0 0 C 0 0.033 0.027 0.06 0.06 0.06 C 0.099 0.06 0.113 0.03 0.119 0.012 L 0.125 -0.012 C 0.131 -0.03 0.146 -0.06 0.19 -0.06 C 0.218 -0.06 0.25 -0.033 0.25 0 C 0.25 0.033 0.218 0.06 0.19 0.06 C 0.146 0.06 0.131 0.03 0.125 0.012 L 0.119 -0.012 C 0.113 -0.03 0.099 -0.06 0.06 -0.06 C 0.027 -0.06 0 -0.033 0 0 Z" pathEditMode="relative" ptsTypes="">
                                      <p:cBhvr>
                                        <p:cTn id="6" dur="2000" fill="hold"/>
                                        <p:tgtEl>
                                          <p:spTgt spid="2"/>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34" presetClass="emph" presetSubtype="0" fill="hold" nodeType="clickEffect">
                                  <p:stCondLst>
                                    <p:cond delay="0"/>
                                  </p:stCondLst>
                                  <p:iterate type="lt">
                                    <p:tmPct val="10000"/>
                                  </p:iterate>
                                  <p:childTnLst>
                                    <p:animMotion origin="layout" path="M -4.58333E-6 -7.40741E-7 L -4.58333E-6 -0.07222 " pathEditMode="relative" rAng="0" ptsTypes="AA">
                                      <p:cBhvr>
                                        <p:cTn id="10" dur="250" accel="50000" decel="50000" autoRev="1" fill="hold">
                                          <p:stCondLst>
                                            <p:cond delay="0"/>
                                          </p:stCondLst>
                                        </p:cTn>
                                        <p:tgtEl>
                                          <p:spTgt spid="3">
                                            <p:txEl>
                                              <p:pRg st="0" end="0"/>
                                            </p:txEl>
                                          </p:spTgt>
                                        </p:tgtEl>
                                        <p:attrNameLst>
                                          <p:attrName>ppt_x</p:attrName>
                                          <p:attrName>ppt_y</p:attrName>
                                        </p:attrNameLst>
                                      </p:cBhvr>
                                      <p:rCtr x="0" y="-3611"/>
                                    </p:animMotion>
                                    <p:animRot by="1500000">
                                      <p:cBhvr>
                                        <p:cTn id="11" dur="125" fill="hold">
                                          <p:stCondLst>
                                            <p:cond delay="0"/>
                                          </p:stCondLst>
                                        </p:cTn>
                                        <p:tgtEl>
                                          <p:spTgt spid="3">
                                            <p:txEl>
                                              <p:pRg st="0" end="0"/>
                                            </p:txEl>
                                          </p:spTgt>
                                        </p:tgtEl>
                                        <p:attrNameLst>
                                          <p:attrName>r</p:attrName>
                                        </p:attrNameLst>
                                      </p:cBhvr>
                                    </p:animRot>
                                    <p:animRot by="-1500000">
                                      <p:cBhvr>
                                        <p:cTn id="12" dur="125" fill="hold">
                                          <p:stCondLst>
                                            <p:cond delay="125"/>
                                          </p:stCondLst>
                                        </p:cTn>
                                        <p:tgtEl>
                                          <p:spTgt spid="3">
                                            <p:txEl>
                                              <p:pRg st="0" end="0"/>
                                            </p:txEl>
                                          </p:spTgt>
                                        </p:tgtEl>
                                        <p:attrNameLst>
                                          <p:attrName>r</p:attrName>
                                        </p:attrNameLst>
                                      </p:cBhvr>
                                    </p:animRot>
                                    <p:animRot by="-1500000">
                                      <p:cBhvr>
                                        <p:cTn id="13" dur="125" fill="hold">
                                          <p:stCondLst>
                                            <p:cond delay="250"/>
                                          </p:stCondLst>
                                        </p:cTn>
                                        <p:tgtEl>
                                          <p:spTgt spid="3">
                                            <p:txEl>
                                              <p:pRg st="0" end="0"/>
                                            </p:txEl>
                                          </p:spTgt>
                                        </p:tgtEl>
                                        <p:attrNameLst>
                                          <p:attrName>r</p:attrName>
                                        </p:attrNameLst>
                                      </p:cBhvr>
                                    </p:animRot>
                                    <p:animRot by="1500000">
                                      <p:cBhvr>
                                        <p:cTn id="14" dur="125" fill="hold">
                                          <p:stCondLst>
                                            <p:cond delay="375"/>
                                          </p:stCondLst>
                                        </p:cTn>
                                        <p:tgtEl>
                                          <p:spTgt spid="3">
                                            <p:txEl>
                                              <p:pRg st="0" end="0"/>
                                            </p:txEl>
                                          </p:spTgt>
                                        </p:tgtEl>
                                        <p:attrNameLst>
                                          <p:attrName>r</p:attrName>
                                        </p:attrNameLst>
                                      </p:cBhvr>
                                    </p:animRot>
                                  </p:childTnLst>
                                </p:cTn>
                              </p:par>
                              <p:par>
                                <p:cTn id="15" presetID="34" presetClass="emph" presetSubtype="0" fill="hold" nodeType="withEffect">
                                  <p:stCondLst>
                                    <p:cond delay="0"/>
                                  </p:stCondLst>
                                  <p:iterate type="lt">
                                    <p:tmPct val="10000"/>
                                  </p:iterate>
                                  <p:childTnLst>
                                    <p:animMotion origin="layout" path="M 2.29167E-6 -4.44444E-6 L 2.29167E-6 -0.07222 " pathEditMode="relative" rAng="0" ptsTypes="AA">
                                      <p:cBhvr>
                                        <p:cTn id="16" dur="250" accel="50000" decel="50000" autoRev="1" fill="hold">
                                          <p:stCondLst>
                                            <p:cond delay="0"/>
                                          </p:stCondLst>
                                        </p:cTn>
                                        <p:tgtEl>
                                          <p:spTgt spid="3">
                                            <p:txEl>
                                              <p:pRg st="1" end="1"/>
                                            </p:txEl>
                                          </p:spTgt>
                                        </p:tgtEl>
                                        <p:attrNameLst>
                                          <p:attrName>ppt_x</p:attrName>
                                          <p:attrName>ppt_y</p:attrName>
                                        </p:attrNameLst>
                                      </p:cBhvr>
                                      <p:rCtr x="0" y="-3611"/>
                                    </p:animMotion>
                                    <p:animRot by="1500000">
                                      <p:cBhvr>
                                        <p:cTn id="17" dur="125" fill="hold">
                                          <p:stCondLst>
                                            <p:cond delay="0"/>
                                          </p:stCondLst>
                                        </p:cTn>
                                        <p:tgtEl>
                                          <p:spTgt spid="3">
                                            <p:txEl>
                                              <p:pRg st="1" end="1"/>
                                            </p:txEl>
                                          </p:spTgt>
                                        </p:tgtEl>
                                        <p:attrNameLst>
                                          <p:attrName>r</p:attrName>
                                        </p:attrNameLst>
                                      </p:cBhvr>
                                    </p:animRot>
                                    <p:animRot by="-1500000">
                                      <p:cBhvr>
                                        <p:cTn id="18" dur="125" fill="hold">
                                          <p:stCondLst>
                                            <p:cond delay="125"/>
                                          </p:stCondLst>
                                        </p:cTn>
                                        <p:tgtEl>
                                          <p:spTgt spid="3">
                                            <p:txEl>
                                              <p:pRg st="1" end="1"/>
                                            </p:txEl>
                                          </p:spTgt>
                                        </p:tgtEl>
                                        <p:attrNameLst>
                                          <p:attrName>r</p:attrName>
                                        </p:attrNameLst>
                                      </p:cBhvr>
                                    </p:animRot>
                                    <p:animRot by="-1500000">
                                      <p:cBhvr>
                                        <p:cTn id="19" dur="125" fill="hold">
                                          <p:stCondLst>
                                            <p:cond delay="250"/>
                                          </p:stCondLst>
                                        </p:cTn>
                                        <p:tgtEl>
                                          <p:spTgt spid="3">
                                            <p:txEl>
                                              <p:pRg st="1" end="1"/>
                                            </p:txEl>
                                          </p:spTgt>
                                        </p:tgtEl>
                                        <p:attrNameLst>
                                          <p:attrName>r</p:attrName>
                                        </p:attrNameLst>
                                      </p:cBhvr>
                                    </p:animRot>
                                    <p:animRot by="1500000">
                                      <p:cBhvr>
                                        <p:cTn id="20" dur="125" fill="hold">
                                          <p:stCondLst>
                                            <p:cond delay="375"/>
                                          </p:stCondLst>
                                        </p:cTn>
                                        <p:tgtEl>
                                          <p:spTgt spid="3">
                                            <p:txEl>
                                              <p:pRg st="1" end="1"/>
                                            </p:txEl>
                                          </p:spTgt>
                                        </p:tgtEl>
                                        <p:attrNameLst>
                                          <p:attrName>r</p:attrName>
                                        </p:attrNameLst>
                                      </p:cBhvr>
                                    </p:animRot>
                                  </p:childTnLst>
                                </p:cTn>
                              </p:par>
                              <p:par>
                                <p:cTn id="21" presetID="34" presetClass="emph" presetSubtype="0" fill="hold" nodeType="withEffect">
                                  <p:stCondLst>
                                    <p:cond delay="0"/>
                                  </p:stCondLst>
                                  <p:iterate type="lt">
                                    <p:tmPct val="10000"/>
                                  </p:iterate>
                                  <p:childTnLst>
                                    <p:animMotion origin="layout" path="M 0.0 0.0 L 0.0 -0.07213" pathEditMode="relative" ptsTypes="">
                                      <p:cBhvr>
                                        <p:cTn id="22" dur="250" accel="50000" decel="50000" autoRev="1" fill="hold">
                                          <p:stCondLst>
                                            <p:cond delay="0"/>
                                          </p:stCondLst>
                                        </p:cTn>
                                        <p:tgtEl>
                                          <p:spTgt spid="3">
                                            <p:txEl>
                                              <p:pRg st="2" end="2"/>
                                            </p:txEl>
                                          </p:spTgt>
                                        </p:tgtEl>
                                        <p:attrNameLst>
                                          <p:attrName>ppt_x</p:attrName>
                                          <p:attrName>ppt_y</p:attrName>
                                        </p:attrNameLst>
                                      </p:cBhvr>
                                    </p:animMotion>
                                    <p:animRot by="1500000">
                                      <p:cBhvr>
                                        <p:cTn id="23" dur="125" fill="hold">
                                          <p:stCondLst>
                                            <p:cond delay="0"/>
                                          </p:stCondLst>
                                        </p:cTn>
                                        <p:tgtEl>
                                          <p:spTgt spid="3">
                                            <p:txEl>
                                              <p:pRg st="2" end="2"/>
                                            </p:txEl>
                                          </p:spTgt>
                                        </p:tgtEl>
                                        <p:attrNameLst>
                                          <p:attrName>r</p:attrName>
                                        </p:attrNameLst>
                                      </p:cBhvr>
                                    </p:animRot>
                                    <p:animRot by="-1500000">
                                      <p:cBhvr>
                                        <p:cTn id="24" dur="125" fill="hold">
                                          <p:stCondLst>
                                            <p:cond delay="125"/>
                                          </p:stCondLst>
                                        </p:cTn>
                                        <p:tgtEl>
                                          <p:spTgt spid="3">
                                            <p:txEl>
                                              <p:pRg st="2" end="2"/>
                                            </p:txEl>
                                          </p:spTgt>
                                        </p:tgtEl>
                                        <p:attrNameLst>
                                          <p:attrName>r</p:attrName>
                                        </p:attrNameLst>
                                      </p:cBhvr>
                                    </p:animRot>
                                    <p:animRot by="-1500000">
                                      <p:cBhvr>
                                        <p:cTn id="25" dur="125" fill="hold">
                                          <p:stCondLst>
                                            <p:cond delay="250"/>
                                          </p:stCondLst>
                                        </p:cTn>
                                        <p:tgtEl>
                                          <p:spTgt spid="3">
                                            <p:txEl>
                                              <p:pRg st="2" end="2"/>
                                            </p:txEl>
                                          </p:spTgt>
                                        </p:tgtEl>
                                        <p:attrNameLst>
                                          <p:attrName>r</p:attrName>
                                        </p:attrNameLst>
                                      </p:cBhvr>
                                    </p:animRot>
                                    <p:animRot by="1500000">
                                      <p:cBhvr>
                                        <p:cTn id="26" dur="125" fill="hold">
                                          <p:stCondLst>
                                            <p:cond delay="375"/>
                                          </p:stCondLst>
                                        </p:cTn>
                                        <p:tgtEl>
                                          <p:spTgt spid="3">
                                            <p:txEl>
                                              <p:pRg st="2" end="2"/>
                                            </p:txEl>
                                          </p:spTgt>
                                        </p:tgtEl>
                                        <p:attrNameLst>
                                          <p:attrName>r</p:attrName>
                                        </p:attrNameLst>
                                      </p:cBhvr>
                                    </p:animRot>
                                  </p:childTnLst>
                                </p:cTn>
                              </p:par>
                              <p:par>
                                <p:cTn id="27" presetID="34" presetClass="emph" presetSubtype="0" fill="hold" nodeType="withEffect">
                                  <p:stCondLst>
                                    <p:cond delay="0"/>
                                  </p:stCondLst>
                                  <p:iterate type="lt">
                                    <p:tmPct val="10000"/>
                                  </p:iterate>
                                  <p:childTnLst>
                                    <p:animMotion origin="layout" path="M -4.16667E-6 -3.7037E-7 L -4.16667E-6 -0.07222 " pathEditMode="relative" rAng="0" ptsTypes="AA">
                                      <p:cBhvr>
                                        <p:cTn id="28" dur="250" accel="50000" decel="50000" autoRev="1" fill="hold">
                                          <p:stCondLst>
                                            <p:cond delay="0"/>
                                          </p:stCondLst>
                                        </p:cTn>
                                        <p:tgtEl>
                                          <p:spTgt spid="3">
                                            <p:txEl>
                                              <p:pRg st="3" end="3"/>
                                            </p:txEl>
                                          </p:spTgt>
                                        </p:tgtEl>
                                        <p:attrNameLst>
                                          <p:attrName>ppt_x</p:attrName>
                                          <p:attrName>ppt_y</p:attrName>
                                        </p:attrNameLst>
                                      </p:cBhvr>
                                      <p:rCtr x="0" y="-3611"/>
                                    </p:animMotion>
                                    <p:animRot by="1500000">
                                      <p:cBhvr>
                                        <p:cTn id="29" dur="125" fill="hold">
                                          <p:stCondLst>
                                            <p:cond delay="0"/>
                                          </p:stCondLst>
                                        </p:cTn>
                                        <p:tgtEl>
                                          <p:spTgt spid="3">
                                            <p:txEl>
                                              <p:pRg st="3" end="3"/>
                                            </p:txEl>
                                          </p:spTgt>
                                        </p:tgtEl>
                                        <p:attrNameLst>
                                          <p:attrName>r</p:attrName>
                                        </p:attrNameLst>
                                      </p:cBhvr>
                                    </p:animRot>
                                    <p:animRot by="-1500000">
                                      <p:cBhvr>
                                        <p:cTn id="30" dur="125" fill="hold">
                                          <p:stCondLst>
                                            <p:cond delay="125"/>
                                          </p:stCondLst>
                                        </p:cTn>
                                        <p:tgtEl>
                                          <p:spTgt spid="3">
                                            <p:txEl>
                                              <p:pRg st="3" end="3"/>
                                            </p:txEl>
                                          </p:spTgt>
                                        </p:tgtEl>
                                        <p:attrNameLst>
                                          <p:attrName>r</p:attrName>
                                        </p:attrNameLst>
                                      </p:cBhvr>
                                    </p:animRot>
                                    <p:animRot by="-1500000">
                                      <p:cBhvr>
                                        <p:cTn id="31" dur="125" fill="hold">
                                          <p:stCondLst>
                                            <p:cond delay="250"/>
                                          </p:stCondLst>
                                        </p:cTn>
                                        <p:tgtEl>
                                          <p:spTgt spid="3">
                                            <p:txEl>
                                              <p:pRg st="3" end="3"/>
                                            </p:txEl>
                                          </p:spTgt>
                                        </p:tgtEl>
                                        <p:attrNameLst>
                                          <p:attrName>r</p:attrName>
                                        </p:attrNameLst>
                                      </p:cBhvr>
                                    </p:animRot>
                                    <p:animRot by="1500000">
                                      <p:cBhvr>
                                        <p:cTn id="32" dur="125" fill="hold">
                                          <p:stCondLst>
                                            <p:cond delay="375"/>
                                          </p:stCondLst>
                                        </p:cTn>
                                        <p:tgtEl>
                                          <p:spTgt spid="3">
                                            <p:txEl>
                                              <p:pRg st="3" end="3"/>
                                            </p:txEl>
                                          </p:spTgt>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99D53E8-C985-4B53-AA44-9DF22EB4158D}"/>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470452" y="936675"/>
            <a:ext cx="11251095" cy="5658678"/>
          </a:xfrm>
          <a:prstGeom prst="rect">
            <a:avLst/>
          </a:prstGeom>
          <a:ln>
            <a:noFill/>
          </a:ln>
          <a:effectLst>
            <a:outerShdw blurRad="292100" dist="139700" dir="2700000" algn="tl" rotWithShape="0">
              <a:srgbClr val="333333">
                <a:alpha val="65000"/>
              </a:srgbClr>
            </a:outerShdw>
          </a:effectLst>
        </p:spPr>
      </p:pic>
      <p:sp>
        <p:nvSpPr>
          <p:cNvPr id="3" name="Title 2">
            <a:extLst>
              <a:ext uri="{FF2B5EF4-FFF2-40B4-BE49-F238E27FC236}">
                <a16:creationId xmlns:a16="http://schemas.microsoft.com/office/drawing/2014/main" id="{C8FC962A-9988-440C-BA65-5C09C907B1DD}"/>
              </a:ext>
            </a:extLst>
          </p:cNvPr>
          <p:cNvSpPr>
            <a:spLocks noGrp="1"/>
          </p:cNvSpPr>
          <p:nvPr>
            <p:ph type="title"/>
          </p:nvPr>
        </p:nvSpPr>
        <p:spPr>
          <a:xfrm>
            <a:off x="683689" y="262647"/>
            <a:ext cx="9404723" cy="1400530"/>
          </a:xfrm>
        </p:spPr>
        <p:txBody>
          <a:bodyPr>
            <a:normAutofit/>
          </a:bodyPr>
          <a:lstStyle/>
          <a:p>
            <a:r>
              <a:rPr lang="en-US" b="1" u="sng" dirty="0">
                <a:solidFill>
                  <a:srgbClr val="B01513"/>
                </a:solidFill>
                <a:latin typeface="Times New Roman" panose="02020603050405020304" pitchFamily="18" charset="0"/>
                <a:cs typeface="Times New Roman" panose="02020603050405020304" pitchFamily="18" charset="0"/>
              </a:rPr>
              <a:t>ARCHITECTURE Diagram</a:t>
            </a:r>
          </a:p>
        </p:txBody>
      </p:sp>
    </p:spTree>
    <p:extLst>
      <p:ext uri="{BB962C8B-B14F-4D97-AF65-F5344CB8AC3E}">
        <p14:creationId xmlns:p14="http://schemas.microsoft.com/office/powerpoint/2010/main" val="756691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2" presetClass="emph" presetSubtype="0" fill="hold" grpId="0" nodeType="clickEffect">
                                  <p:stCondLst>
                                    <p:cond delay="0"/>
                                  </p:stCondLst>
                                  <p:childTnLst>
                                    <p:animRot by="120000">
                                      <p:cBhvr>
                                        <p:cTn id="13" dur="100" fill="hold">
                                          <p:stCondLst>
                                            <p:cond delay="0"/>
                                          </p:stCondLst>
                                        </p:cTn>
                                        <p:tgtEl>
                                          <p:spTgt spid="3"/>
                                        </p:tgtEl>
                                        <p:attrNameLst>
                                          <p:attrName>r</p:attrName>
                                        </p:attrNameLst>
                                      </p:cBhvr>
                                    </p:animRot>
                                    <p:animRot by="-240000">
                                      <p:cBhvr>
                                        <p:cTn id="14" dur="200" fill="hold">
                                          <p:stCondLst>
                                            <p:cond delay="200"/>
                                          </p:stCondLst>
                                        </p:cTn>
                                        <p:tgtEl>
                                          <p:spTgt spid="3"/>
                                        </p:tgtEl>
                                        <p:attrNameLst>
                                          <p:attrName>r</p:attrName>
                                        </p:attrNameLst>
                                      </p:cBhvr>
                                    </p:animRot>
                                    <p:animRot by="240000">
                                      <p:cBhvr>
                                        <p:cTn id="15" dur="200" fill="hold">
                                          <p:stCondLst>
                                            <p:cond delay="400"/>
                                          </p:stCondLst>
                                        </p:cTn>
                                        <p:tgtEl>
                                          <p:spTgt spid="3"/>
                                        </p:tgtEl>
                                        <p:attrNameLst>
                                          <p:attrName>r</p:attrName>
                                        </p:attrNameLst>
                                      </p:cBhvr>
                                    </p:animRot>
                                    <p:animRot by="-240000">
                                      <p:cBhvr>
                                        <p:cTn id="16" dur="200" fill="hold">
                                          <p:stCondLst>
                                            <p:cond delay="600"/>
                                          </p:stCondLst>
                                        </p:cTn>
                                        <p:tgtEl>
                                          <p:spTgt spid="3"/>
                                        </p:tgtEl>
                                        <p:attrNameLst>
                                          <p:attrName>r</p:attrName>
                                        </p:attrNameLst>
                                      </p:cBhvr>
                                    </p:animRot>
                                    <p:animRot by="120000">
                                      <p:cBhvr>
                                        <p:cTn id="17" dur="200" fill="hold">
                                          <p:stCondLst>
                                            <p:cond delay="800"/>
                                          </p:stCondLst>
                                        </p:cTn>
                                        <p:tgtEl>
                                          <p:spTgt spid="3"/>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7148C-6B1D-4E54-9701-DC4C1AAEA700}"/>
              </a:ext>
            </a:extLst>
          </p:cNvPr>
          <p:cNvSpPr>
            <a:spLocks noGrp="1"/>
          </p:cNvSpPr>
          <p:nvPr>
            <p:ph type="title"/>
          </p:nvPr>
        </p:nvSpPr>
        <p:spPr/>
        <p:txBody>
          <a:bodyPr/>
          <a:lstStyle/>
          <a:p>
            <a:r>
              <a:rPr lang="en-US" b="1" u="sng" dirty="0">
                <a:solidFill>
                  <a:srgbClr val="B01513"/>
                </a:solidFill>
                <a:latin typeface="Times New Roman" panose="02020603050405020304" pitchFamily="18" charset="0"/>
                <a:cs typeface="Times New Roman" panose="02020603050405020304" pitchFamily="18" charset="0"/>
              </a:rPr>
              <a:t>ADVANTAGES</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08E885E-3788-407A-88CB-E865CD0FDA13}"/>
              </a:ext>
            </a:extLst>
          </p:cNvPr>
          <p:cNvSpPr>
            <a:spLocks noGrp="1"/>
          </p:cNvSpPr>
          <p:nvPr>
            <p:ph idx="1"/>
          </p:nvPr>
        </p:nvSpPr>
        <p:spPr/>
        <p:txBody>
          <a:bodyPr>
            <a:normAutofit/>
          </a:bodyPr>
          <a:lstStyle/>
          <a:p>
            <a:endParaRPr lang="en-US" dirty="0"/>
          </a:p>
          <a:p>
            <a:r>
              <a:rPr lang="en-US" dirty="0"/>
              <a:t>Highly Security from unauthorized use of credit card</a:t>
            </a:r>
          </a:p>
          <a:p>
            <a:r>
              <a:rPr lang="en-US" dirty="0"/>
              <a:t>1. Avoids fraud usage of card through online transactions.</a:t>
            </a:r>
          </a:p>
          <a:p>
            <a:r>
              <a:rPr lang="en-US" dirty="0"/>
              <a:t>2. Detect if card used by others if card lost.</a:t>
            </a:r>
          </a:p>
        </p:txBody>
      </p:sp>
    </p:spTree>
    <p:extLst>
      <p:ext uri="{BB962C8B-B14F-4D97-AF65-F5344CB8AC3E}">
        <p14:creationId xmlns:p14="http://schemas.microsoft.com/office/powerpoint/2010/main" val="3799816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6" presetClass="entr" presetSubtype="16" fill="hold" grpId="0" nodeType="click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circle(in)">
                                      <p:cBhvr>
                                        <p:cTn id="25" dur="2000"/>
                                        <p:tgtEl>
                                          <p:spTgt spid="2"/>
                                        </p:tgtEl>
                                      </p:cBhvr>
                                    </p:animEffect>
                                  </p:childTnLst>
                                </p:cTn>
                              </p:par>
                            </p:childTnLst>
                          </p:cTn>
                        </p:par>
                      </p:childTnLst>
                    </p:cTn>
                  </p:par>
                  <p:par>
                    <p:cTn id="26" fill="hold">
                      <p:stCondLst>
                        <p:cond delay="indefinite"/>
                      </p:stCondLst>
                      <p:childTnLst>
                        <p:par>
                          <p:cTn id="27" fill="hold">
                            <p:stCondLst>
                              <p:cond delay="0"/>
                            </p:stCondLst>
                            <p:childTnLst>
                              <p:par>
                                <p:cTn id="28" presetID="14" presetClass="entr" presetSubtype="10" fill="hold" grpId="1" nodeType="clickEffect">
                                  <p:stCondLst>
                                    <p:cond delay="0"/>
                                  </p:stCondLst>
                                  <p:childTnLst>
                                    <p:set>
                                      <p:cBhvr>
                                        <p:cTn id="29" dur="1" fill="hold">
                                          <p:stCondLst>
                                            <p:cond delay="0"/>
                                          </p:stCondLst>
                                        </p:cTn>
                                        <p:tgtEl>
                                          <p:spTgt spid="2"/>
                                        </p:tgtEl>
                                        <p:attrNameLst>
                                          <p:attrName>style.visibility</p:attrName>
                                        </p:attrNameLst>
                                      </p:cBhvr>
                                      <p:to>
                                        <p:strVal val="visible"/>
                                      </p:to>
                                    </p:set>
                                    <p:animEffect transition="in" filter="randombar(horizontal)">
                                      <p:cBhvr>
                                        <p:cTn id="3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11769-F6E5-4A25-A8F4-C1974E6A6D01}"/>
              </a:ext>
            </a:extLst>
          </p:cNvPr>
          <p:cNvSpPr>
            <a:spLocks noGrp="1"/>
          </p:cNvSpPr>
          <p:nvPr>
            <p:ph type="title"/>
          </p:nvPr>
        </p:nvSpPr>
        <p:spPr/>
        <p:txBody>
          <a:bodyPr/>
          <a:lstStyle/>
          <a:p>
            <a:r>
              <a:rPr lang="en-US" b="1" u="sng" dirty="0">
                <a:solidFill>
                  <a:srgbClr val="B01513"/>
                </a:solidFill>
                <a:latin typeface="Times New Roman" panose="02020603050405020304" pitchFamily="18" charset="0"/>
                <a:cs typeface="Times New Roman" panose="02020603050405020304" pitchFamily="18" charset="0"/>
              </a:rPr>
              <a:t>SYSTEM TESTING</a:t>
            </a:r>
            <a:endParaRPr lang="en-US" u="sng" dirty="0">
              <a:solidFill>
                <a:srgbClr val="B01513"/>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B99E311-45EF-4968-97C6-1F485AACDB18}"/>
              </a:ext>
            </a:extLst>
          </p:cNvPr>
          <p:cNvSpPr>
            <a:spLocks noGrp="1"/>
          </p:cNvSpPr>
          <p:nvPr>
            <p:ph idx="1"/>
          </p:nvPr>
        </p:nvSpPr>
        <p:spPr/>
        <p:txBody>
          <a:bodyPr>
            <a:normAutofit/>
          </a:bodyPr>
          <a:lstStyle/>
          <a:p>
            <a:pPr lvl="0"/>
            <a:r>
              <a:rPr lang="en-US" dirty="0"/>
              <a:t>To ensure that during operation the system will perform as per specification</a:t>
            </a:r>
          </a:p>
          <a:p>
            <a:pPr lvl="0"/>
            <a:r>
              <a:rPr lang="en-US" dirty="0"/>
              <a:t>To make sure that the system meets user’s requirements during .operation.</a:t>
            </a:r>
          </a:p>
          <a:p>
            <a:pPr lvl="0"/>
            <a:r>
              <a:rPr lang="en-US" dirty="0"/>
              <a:t>To verify that the controls incorporated in the system function as intended.</a:t>
            </a:r>
          </a:p>
          <a:p>
            <a:pPr lvl="0"/>
            <a:r>
              <a:rPr lang="en-US" dirty="0"/>
              <a:t>To make sure when correct inputs are fed to the system, the outputs are correct.</a:t>
            </a:r>
          </a:p>
          <a:p>
            <a:pPr lvl="0"/>
            <a:r>
              <a:rPr lang="en-US" dirty="0"/>
              <a:t>To make sure that during operation, incorrect input, processing and outputs will be deleted.</a:t>
            </a:r>
          </a:p>
          <a:p>
            <a:endParaRPr lang="en-US" dirty="0"/>
          </a:p>
          <a:p>
            <a:endParaRPr lang="en-US" dirty="0"/>
          </a:p>
        </p:txBody>
      </p:sp>
    </p:spTree>
    <p:extLst>
      <p:ext uri="{BB962C8B-B14F-4D97-AF65-F5344CB8AC3E}">
        <p14:creationId xmlns:p14="http://schemas.microsoft.com/office/powerpoint/2010/main" val="1250780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5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ircle(in)">
                                      <p:cBhvr>
                                        <p:cTn id="12" dur="25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circle(in)">
                                      <p:cBhvr>
                                        <p:cTn id="17" dur="25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circle(in)">
                                      <p:cBhvr>
                                        <p:cTn id="22" dur="25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circle(in)">
                                      <p:cBhvr>
                                        <p:cTn id="27" dur="25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0" presetClass="entr" presetSubtype="0" decel="100000" fill="hold" grpId="0" nodeType="clickEffect">
                                  <p:stCondLst>
                                    <p:cond delay="0"/>
                                  </p:stCondLst>
                                  <p:childTnLst>
                                    <p:set>
                                      <p:cBhvr>
                                        <p:cTn id="31" dur="1" fill="hold">
                                          <p:stCondLst>
                                            <p:cond delay="0"/>
                                          </p:stCondLst>
                                        </p:cTn>
                                        <p:tgtEl>
                                          <p:spTgt spid="2"/>
                                        </p:tgtEl>
                                        <p:attrNameLst>
                                          <p:attrName>style.visibility</p:attrName>
                                        </p:attrNameLst>
                                      </p:cBhvr>
                                      <p:to>
                                        <p:strVal val="visible"/>
                                      </p:to>
                                    </p:set>
                                    <p:anim calcmode="lin" valueType="num">
                                      <p:cBhvr>
                                        <p:cTn id="32" dur="1000" fill="hold"/>
                                        <p:tgtEl>
                                          <p:spTgt spid="2"/>
                                        </p:tgtEl>
                                        <p:attrNameLst>
                                          <p:attrName>ppt_w</p:attrName>
                                        </p:attrNameLst>
                                      </p:cBhvr>
                                      <p:tavLst>
                                        <p:tav tm="0">
                                          <p:val>
                                            <p:strVal val="#ppt_w+.3"/>
                                          </p:val>
                                        </p:tav>
                                        <p:tav tm="100000">
                                          <p:val>
                                            <p:strVal val="#ppt_w"/>
                                          </p:val>
                                        </p:tav>
                                      </p:tavLst>
                                    </p:anim>
                                    <p:anim calcmode="lin" valueType="num">
                                      <p:cBhvr>
                                        <p:cTn id="33" dur="1000" fill="hold"/>
                                        <p:tgtEl>
                                          <p:spTgt spid="2"/>
                                        </p:tgtEl>
                                        <p:attrNameLst>
                                          <p:attrName>ppt_h</p:attrName>
                                        </p:attrNameLst>
                                      </p:cBhvr>
                                      <p:tavLst>
                                        <p:tav tm="0">
                                          <p:val>
                                            <p:strVal val="#ppt_h"/>
                                          </p:val>
                                        </p:tav>
                                        <p:tav tm="100000">
                                          <p:val>
                                            <p:strVal val="#ppt_h"/>
                                          </p:val>
                                        </p:tav>
                                      </p:tavLst>
                                    </p:anim>
                                    <p:animEffect transition="in" filter="fade">
                                      <p:cBhvr>
                                        <p:cTn id="34"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75715A-B7B5-4626-B2BC-3BDBA05BCE82}"/>
              </a:ext>
            </a:extLst>
          </p:cNvPr>
          <p:cNvSpPr>
            <a:spLocks noGrp="1"/>
          </p:cNvSpPr>
          <p:nvPr>
            <p:ph type="title"/>
          </p:nvPr>
        </p:nvSpPr>
        <p:spPr/>
        <p:txBody>
          <a:bodyPr/>
          <a:lstStyle/>
          <a:p>
            <a:r>
              <a:rPr lang="en-US" b="1" u="sng" dirty="0">
                <a:solidFill>
                  <a:srgbClr val="B01513"/>
                </a:solidFill>
                <a:latin typeface="Times New Roman" panose="02020603050405020304" pitchFamily="18" charset="0"/>
                <a:cs typeface="Times New Roman" panose="02020603050405020304" pitchFamily="18" charset="0"/>
              </a:rPr>
              <a:t>PERFORMANCE TESTING</a:t>
            </a:r>
            <a:endParaRPr lang="en-US" u="sng" dirty="0">
              <a:solidFill>
                <a:srgbClr val="B01513"/>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03E955A-38C7-4319-A13B-6064227F59A3}"/>
              </a:ext>
            </a:extLst>
          </p:cNvPr>
          <p:cNvSpPr>
            <a:spLocks noGrp="1"/>
          </p:cNvSpPr>
          <p:nvPr>
            <p:ph idx="1"/>
          </p:nvPr>
        </p:nvSpPr>
        <p:spPr/>
        <p:txBody>
          <a:bodyPr/>
          <a:lstStyle/>
          <a:p>
            <a:r>
              <a:rPr lang="en-US" dirty="0"/>
              <a:t>Performance test is designed to test the run- time performance of the software within the context of an integrated system. Tests are based on coverage of code statements, branches, paths, conditions.</a:t>
            </a:r>
          </a:p>
          <a:p>
            <a:endParaRPr lang="en-US" dirty="0"/>
          </a:p>
        </p:txBody>
      </p:sp>
    </p:spTree>
    <p:extLst>
      <p:ext uri="{BB962C8B-B14F-4D97-AF65-F5344CB8AC3E}">
        <p14:creationId xmlns:p14="http://schemas.microsoft.com/office/powerpoint/2010/main" val="2418616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path" presetSubtype="0" accel="50000" decel="50000" fill="hold" grpId="0" nodeType="clickEffect">
                                  <p:stCondLst>
                                    <p:cond delay="0"/>
                                  </p:stCondLst>
                                  <p:childTnLst>
                                    <p:animMotion origin="layout" path="M 0 0 C 0.012 -0.018 0.033 -0.044 0.058 -0.044 C 0.095 -0.044 0.125 -0.017 0.125 0.017 C 0.125 0.028 0.122 0.038 0.116 0.047 C 0.117 0.047 0 0.182 0 0.183 C 0 0.182 -0.117 0.047 -0.116 0.047 C -0.122 0.038 -0.125 0.028 -0.125 0.017 C -0.125 -0.017 -0.095 -0.044 -0.057 -0.044 C -0.033 -0.044 -0.012 -0.018 0 0 Z" pathEditMode="relative" ptsTypes="">
                                      <p:cBhvr>
                                        <p:cTn id="11" dur="2000" fill="hold"/>
                                        <p:tgtEl>
                                          <p:spTgt spid="2"/>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6F7BB-5765-4355-8A71-548E965DC36C}"/>
              </a:ext>
            </a:extLst>
          </p:cNvPr>
          <p:cNvSpPr>
            <a:spLocks noGrp="1"/>
          </p:cNvSpPr>
          <p:nvPr>
            <p:ph type="title"/>
          </p:nvPr>
        </p:nvSpPr>
        <p:spPr/>
        <p:txBody>
          <a:bodyPr/>
          <a:lstStyle/>
          <a:p>
            <a:r>
              <a:rPr lang="en-US" b="1" u="sng" dirty="0">
                <a:solidFill>
                  <a:srgbClr val="B01513"/>
                </a:solidFill>
                <a:latin typeface="Times New Roman" panose="02020603050405020304" pitchFamily="18" charset="0"/>
                <a:cs typeface="Times New Roman" panose="02020603050405020304" pitchFamily="18" charset="0"/>
              </a:rPr>
              <a:t>UNIT TESTING</a:t>
            </a:r>
            <a:endParaRPr lang="en-US" u="sng" dirty="0">
              <a:solidFill>
                <a:srgbClr val="B01513"/>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5D75899-8052-49DA-82FC-F746976FA110}"/>
              </a:ext>
            </a:extLst>
          </p:cNvPr>
          <p:cNvSpPr>
            <a:spLocks noGrp="1"/>
          </p:cNvSpPr>
          <p:nvPr>
            <p:ph idx="1"/>
          </p:nvPr>
        </p:nvSpPr>
        <p:spPr/>
        <p:txBody>
          <a:bodyPr/>
          <a:lstStyle/>
          <a:p>
            <a:r>
              <a:rPr lang="en-US" dirty="0"/>
              <a:t>Testing of individual software components or modules. Typically done by the programmer and not by testers, as it requires detailed knowledge of the internal program design and code.</a:t>
            </a:r>
          </a:p>
          <a:p>
            <a:endParaRPr lang="en-US" dirty="0"/>
          </a:p>
        </p:txBody>
      </p:sp>
    </p:spTree>
    <p:extLst>
      <p:ext uri="{BB962C8B-B14F-4D97-AF65-F5344CB8AC3E}">
        <p14:creationId xmlns:p14="http://schemas.microsoft.com/office/powerpoint/2010/main" val="19635613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2"/>
                                        </p:tgtEl>
                                      </p:cBhvr>
                                    </p:animEffect>
                                    <p:set>
                                      <p:cBhvr>
                                        <p:cTn id="12" dur="1" fill="hold">
                                          <p:stCondLst>
                                            <p:cond delay="499"/>
                                          </p:stCondLst>
                                        </p:cTn>
                                        <p:tgtEl>
                                          <p:spTgt spid="2"/>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55" presetClass="entr" presetSubtype="0" fill="hold" grpId="1"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p:cTn id="17" dur="1000" fill="hold"/>
                                        <p:tgtEl>
                                          <p:spTgt spid="2"/>
                                        </p:tgtEl>
                                        <p:attrNameLst>
                                          <p:attrName>ppt_w</p:attrName>
                                        </p:attrNameLst>
                                      </p:cBhvr>
                                      <p:tavLst>
                                        <p:tav tm="0">
                                          <p:val>
                                            <p:strVal val="#ppt_w*0.70"/>
                                          </p:val>
                                        </p:tav>
                                        <p:tav tm="100000">
                                          <p:val>
                                            <p:strVal val="#ppt_w"/>
                                          </p:val>
                                        </p:tav>
                                      </p:tavLst>
                                    </p:anim>
                                    <p:anim calcmode="lin" valueType="num">
                                      <p:cBhvr>
                                        <p:cTn id="18" dur="1000" fill="hold"/>
                                        <p:tgtEl>
                                          <p:spTgt spid="2"/>
                                        </p:tgtEl>
                                        <p:attrNameLst>
                                          <p:attrName>ppt_h</p:attrName>
                                        </p:attrNameLst>
                                      </p:cBhvr>
                                      <p:tavLst>
                                        <p:tav tm="0">
                                          <p:val>
                                            <p:strVal val="#ppt_h"/>
                                          </p:val>
                                        </p:tav>
                                        <p:tav tm="100000">
                                          <p:val>
                                            <p:strVal val="#ppt_h"/>
                                          </p:val>
                                        </p:tav>
                                      </p:tavLst>
                                    </p:anim>
                                    <p:animEffect transition="in" filter="fade">
                                      <p:cBhvr>
                                        <p:cTn id="19"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5E1336-9817-47B3-9A08-A267FF260F20}"/>
              </a:ext>
            </a:extLst>
          </p:cNvPr>
          <p:cNvSpPr>
            <a:spLocks noGrp="1"/>
          </p:cNvSpPr>
          <p:nvPr>
            <p:ph type="title"/>
          </p:nvPr>
        </p:nvSpPr>
        <p:spPr/>
        <p:txBody>
          <a:bodyPr/>
          <a:lstStyle/>
          <a:p>
            <a:r>
              <a:rPr lang="en-US" b="1" u="sng" dirty="0">
                <a:solidFill>
                  <a:srgbClr val="B01513"/>
                </a:solidFill>
                <a:latin typeface="Times New Roman" panose="02020603050405020304" pitchFamily="18" charset="0"/>
                <a:cs typeface="Times New Roman" panose="02020603050405020304" pitchFamily="18" charset="0"/>
              </a:rPr>
              <a:t>INTEGRATION TESTING</a:t>
            </a:r>
            <a:endParaRPr lang="en-US" u="sng" dirty="0">
              <a:solidFill>
                <a:srgbClr val="B01513"/>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47E85AD-20ED-4BBD-ABF0-BF3E8B93BF17}"/>
              </a:ext>
            </a:extLst>
          </p:cNvPr>
          <p:cNvSpPr>
            <a:spLocks noGrp="1"/>
          </p:cNvSpPr>
          <p:nvPr>
            <p:ph idx="1"/>
          </p:nvPr>
        </p:nvSpPr>
        <p:spPr/>
        <p:txBody>
          <a:bodyPr/>
          <a:lstStyle/>
          <a:p>
            <a:r>
              <a:rPr lang="en-US" dirty="0"/>
              <a:t>Testing of integrated modules to verify combined functionality after integration. Modules are typically code modules, individual applications, client and server applications on a network, etc. This type of testing is especially relevant to client/server and distributed systems.</a:t>
            </a:r>
          </a:p>
          <a:p>
            <a:endParaRPr lang="en-US" dirty="0"/>
          </a:p>
          <a:p>
            <a:endParaRPr lang="en-US" dirty="0"/>
          </a:p>
        </p:txBody>
      </p:sp>
    </p:spTree>
    <p:extLst>
      <p:ext uri="{BB962C8B-B14F-4D97-AF65-F5344CB8AC3E}">
        <p14:creationId xmlns:p14="http://schemas.microsoft.com/office/powerpoint/2010/main" val="4167304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750"/>
                                        <p:tgtEl>
                                          <p:spTgt spid="3">
                                            <p:txEl>
                                              <p:pRg st="0" end="0"/>
                                            </p:txEl>
                                          </p:spTgt>
                                        </p:tgtEl>
                                      </p:cBhvr>
                                    </p:animEffect>
                                    <p:anim calcmode="lin" valueType="num">
                                      <p:cBhvr>
                                        <p:cTn id="8" dur="750" fill="hold"/>
                                        <p:tgtEl>
                                          <p:spTgt spid="3">
                                            <p:txEl>
                                              <p:pRg st="0" end="0"/>
                                            </p:txEl>
                                          </p:spTgt>
                                        </p:tgtEl>
                                        <p:attrNameLst>
                                          <p:attrName>ppt_w</p:attrName>
                                        </p:attrNameLst>
                                      </p:cBhvr>
                                      <p:tavLst>
                                        <p:tav tm="0" fmla="#ppt_w*sin(2.5*pi*$)">
                                          <p:val>
                                            <p:fltVal val="0"/>
                                          </p:val>
                                        </p:tav>
                                        <p:tav tm="100000">
                                          <p:val>
                                            <p:fltVal val="1"/>
                                          </p:val>
                                        </p:tav>
                                      </p:tavLst>
                                    </p:anim>
                                    <p:anim calcmode="lin" valueType="num">
                                      <p:cBhvr>
                                        <p:cTn id="9" dur="750" fill="hold"/>
                                        <p:tgtEl>
                                          <p:spTgt spid="3">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56" presetClass="entr" presetSubtype="0" fill="hold" grpId="0" nodeType="clickEffect">
                                  <p:stCondLst>
                                    <p:cond delay="0"/>
                                  </p:stCondLst>
                                  <p:iterate type="lt">
                                    <p:tmPct val="10000"/>
                                  </p:iterate>
                                  <p:childTnLst>
                                    <p:set>
                                      <p:cBhvr>
                                        <p:cTn id="13" dur="1" fill="hold">
                                          <p:stCondLst>
                                            <p:cond delay="0"/>
                                          </p:stCondLst>
                                        </p:cTn>
                                        <p:tgtEl>
                                          <p:spTgt spid="2"/>
                                        </p:tgtEl>
                                        <p:attrNameLst>
                                          <p:attrName>style.visibility</p:attrName>
                                        </p:attrNameLst>
                                      </p:cBhvr>
                                      <p:to>
                                        <p:strVal val="visible"/>
                                      </p:to>
                                    </p:set>
                                    <p:anim by="(-#ppt_w*2)" calcmode="lin" valueType="num">
                                      <p:cBhvr rctx="PPT">
                                        <p:cTn id="14" dur="500" autoRev="1" fill="hold">
                                          <p:stCondLst>
                                            <p:cond delay="0"/>
                                          </p:stCondLst>
                                        </p:cTn>
                                        <p:tgtEl>
                                          <p:spTgt spid="2"/>
                                        </p:tgtEl>
                                        <p:attrNameLst>
                                          <p:attrName>ppt_w</p:attrName>
                                        </p:attrNameLst>
                                      </p:cBhvr>
                                    </p:anim>
                                    <p:anim by="(#ppt_w*0.50)" calcmode="lin" valueType="num">
                                      <p:cBhvr>
                                        <p:cTn id="15" dur="500" decel="50000" autoRev="1" fill="hold">
                                          <p:stCondLst>
                                            <p:cond delay="0"/>
                                          </p:stCondLst>
                                        </p:cTn>
                                        <p:tgtEl>
                                          <p:spTgt spid="2"/>
                                        </p:tgtEl>
                                        <p:attrNameLst>
                                          <p:attrName>ppt_x</p:attrName>
                                        </p:attrNameLst>
                                      </p:cBhvr>
                                    </p:anim>
                                    <p:anim from="(-#ppt_h/2)" to="(#ppt_y)" calcmode="lin" valueType="num">
                                      <p:cBhvr>
                                        <p:cTn id="16" dur="1000" fill="hold">
                                          <p:stCondLst>
                                            <p:cond delay="0"/>
                                          </p:stCondLst>
                                        </p:cTn>
                                        <p:tgtEl>
                                          <p:spTgt spid="2"/>
                                        </p:tgtEl>
                                        <p:attrNameLst>
                                          <p:attrName>ppt_y</p:attrName>
                                        </p:attrNameLst>
                                      </p:cBhvr>
                                    </p:anim>
                                    <p:animRot by="21600000">
                                      <p:cBhvr>
                                        <p:cTn id="17" dur="1000" fill="hold">
                                          <p:stCondLst>
                                            <p:cond delay="0"/>
                                          </p:stCondLst>
                                        </p:cTn>
                                        <p:tgtEl>
                                          <p:spTgt spid="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BDDFF-1EBF-D66B-3F6F-4EA071EF44FA}"/>
              </a:ext>
            </a:extLst>
          </p:cNvPr>
          <p:cNvSpPr>
            <a:spLocks noGrp="1"/>
          </p:cNvSpPr>
          <p:nvPr>
            <p:ph type="title"/>
          </p:nvPr>
        </p:nvSpPr>
        <p:spPr/>
        <p:txBody>
          <a:bodyPr/>
          <a:lstStyle/>
          <a:p>
            <a:r>
              <a:rPr lang="en-US" b="1" u="sng" dirty="0">
                <a:solidFill>
                  <a:srgbClr val="B01513"/>
                </a:solidFill>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C2212327-ABCA-10FD-8EBE-998CCC2C9E43}"/>
              </a:ext>
            </a:extLst>
          </p:cNvPr>
          <p:cNvSpPr>
            <a:spLocks noGrp="1"/>
          </p:cNvSpPr>
          <p:nvPr>
            <p:ph idx="1"/>
          </p:nvPr>
        </p:nvSpPr>
        <p:spPr>
          <a:xfrm>
            <a:off x="1103312" y="1381328"/>
            <a:ext cx="9529020" cy="4867071"/>
          </a:xfrm>
        </p:spPr>
        <p:txBody>
          <a:bodyPr/>
          <a:lstStyle/>
          <a:p>
            <a:pPr algn="just"/>
            <a:r>
              <a:rPr lang="en-US" dirty="0"/>
              <a:t>Credit card fraud becomes a serious concern to the world. </a:t>
            </a:r>
          </a:p>
          <a:p>
            <a:pPr algn="just"/>
            <a:r>
              <a:rPr lang="en-US" dirty="0"/>
              <a:t>Fraud brings huge financial losses to the world. This urged Credit card companies have been invested money to create and develop techniques to reveal and reduce fraud.</a:t>
            </a:r>
          </a:p>
          <a:p>
            <a:pPr algn="just"/>
            <a:r>
              <a:rPr lang="en-US" dirty="0"/>
              <a:t> The prime goal of this study is to define algorithms that confer the appropriate, and can be adapted by credit card companies for identifying fraudulent transactions more accurately, in less time and cost. Different machine learning algorithms are compared,</a:t>
            </a:r>
          </a:p>
        </p:txBody>
      </p:sp>
    </p:spTree>
    <p:extLst>
      <p:ext uri="{BB962C8B-B14F-4D97-AF65-F5344CB8AC3E}">
        <p14:creationId xmlns:p14="http://schemas.microsoft.com/office/powerpoint/2010/main" val="4031023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plus(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9" presetClass="entr" presetSubtype="0" decel="10000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p:cTn id="12"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13" dur="500" fill="hold"/>
                                        <p:tgtEl>
                                          <p:spTgt spid="3">
                                            <p:txEl>
                                              <p:pRg st="0" end="0"/>
                                            </p:txEl>
                                          </p:spTgt>
                                        </p:tgtEl>
                                        <p:attrNameLst>
                                          <p:attrName>ppt_h</p:attrName>
                                        </p:attrNameLst>
                                      </p:cBhvr>
                                      <p:tavLst>
                                        <p:tav tm="0">
                                          <p:val>
                                            <p:fltVal val="0"/>
                                          </p:val>
                                        </p:tav>
                                        <p:tav tm="100000">
                                          <p:val>
                                            <p:strVal val="#ppt_h"/>
                                          </p:val>
                                        </p:tav>
                                      </p:tavLst>
                                    </p:anim>
                                    <p:anim calcmode="lin" valueType="num">
                                      <p:cBhvr>
                                        <p:cTn id="14" dur="500" fill="hold"/>
                                        <p:tgtEl>
                                          <p:spTgt spid="3">
                                            <p:txEl>
                                              <p:pRg st="0" end="0"/>
                                            </p:txEl>
                                          </p:spTgt>
                                        </p:tgtEl>
                                        <p:attrNameLst>
                                          <p:attrName>style.rotation</p:attrName>
                                        </p:attrNameLst>
                                      </p:cBhvr>
                                      <p:tavLst>
                                        <p:tav tm="0">
                                          <p:val>
                                            <p:fltVal val="360"/>
                                          </p:val>
                                        </p:tav>
                                        <p:tav tm="100000">
                                          <p:val>
                                            <p:fltVal val="0"/>
                                          </p:val>
                                        </p:tav>
                                      </p:tavLst>
                                    </p:anim>
                                    <p:animEffect transition="in" filter="fade">
                                      <p:cBhvr>
                                        <p:cTn id="15" dur="500"/>
                                        <p:tgtEl>
                                          <p:spTgt spid="3">
                                            <p:txEl>
                                              <p:pRg st="0" end="0"/>
                                            </p:txEl>
                                          </p:spTgt>
                                        </p:tgtEl>
                                      </p:cBhvr>
                                    </p:animEffect>
                                  </p:childTnLst>
                                </p:cTn>
                              </p:par>
                              <p:par>
                                <p:cTn id="16" presetID="49" presetClass="entr" presetSubtype="0" decel="100000" fill="hold" nodeType="with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p:cTn id="18"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9" dur="5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0" dur="500" fill="hold"/>
                                        <p:tgtEl>
                                          <p:spTgt spid="3">
                                            <p:txEl>
                                              <p:pRg st="1" end="1"/>
                                            </p:txEl>
                                          </p:spTgt>
                                        </p:tgtEl>
                                        <p:attrNameLst>
                                          <p:attrName>style.rotation</p:attrName>
                                        </p:attrNameLst>
                                      </p:cBhvr>
                                      <p:tavLst>
                                        <p:tav tm="0">
                                          <p:val>
                                            <p:fltVal val="360"/>
                                          </p:val>
                                        </p:tav>
                                        <p:tav tm="100000">
                                          <p:val>
                                            <p:fltVal val="0"/>
                                          </p:val>
                                        </p:tav>
                                      </p:tavLst>
                                    </p:anim>
                                    <p:animEffect transition="in" filter="fade">
                                      <p:cBhvr>
                                        <p:cTn id="21" dur="500"/>
                                        <p:tgtEl>
                                          <p:spTgt spid="3">
                                            <p:txEl>
                                              <p:pRg st="1" end="1"/>
                                            </p:txEl>
                                          </p:spTgt>
                                        </p:tgtEl>
                                      </p:cBhvr>
                                    </p:animEffect>
                                  </p:childTnLst>
                                </p:cTn>
                              </p:par>
                              <p:par>
                                <p:cTn id="22" presetID="49" presetClass="entr" presetSubtype="0" decel="100000" fill="hold" nodeType="with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p:cTn id="24"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5" dur="500" fill="hold"/>
                                        <p:tgtEl>
                                          <p:spTgt spid="3">
                                            <p:txEl>
                                              <p:pRg st="2" end="2"/>
                                            </p:txEl>
                                          </p:spTgt>
                                        </p:tgtEl>
                                        <p:attrNameLst>
                                          <p:attrName>ppt_h</p:attrName>
                                        </p:attrNameLst>
                                      </p:cBhvr>
                                      <p:tavLst>
                                        <p:tav tm="0">
                                          <p:val>
                                            <p:fltVal val="0"/>
                                          </p:val>
                                        </p:tav>
                                        <p:tav tm="100000">
                                          <p:val>
                                            <p:strVal val="#ppt_h"/>
                                          </p:val>
                                        </p:tav>
                                      </p:tavLst>
                                    </p:anim>
                                    <p:anim calcmode="lin" valueType="num">
                                      <p:cBhvr>
                                        <p:cTn id="26" dur="500" fill="hold"/>
                                        <p:tgtEl>
                                          <p:spTgt spid="3">
                                            <p:txEl>
                                              <p:pRg st="2" end="2"/>
                                            </p:txEl>
                                          </p:spTgt>
                                        </p:tgtEl>
                                        <p:attrNameLst>
                                          <p:attrName>style.rotation</p:attrName>
                                        </p:attrNameLst>
                                      </p:cBhvr>
                                      <p:tavLst>
                                        <p:tav tm="0">
                                          <p:val>
                                            <p:fltVal val="360"/>
                                          </p:val>
                                        </p:tav>
                                        <p:tav tm="100000">
                                          <p:val>
                                            <p:fltVal val="0"/>
                                          </p:val>
                                        </p:tav>
                                      </p:tavLst>
                                    </p:anim>
                                    <p:animEffect transition="in" filter="fade">
                                      <p:cBhvr>
                                        <p:cTn id="2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30D04-8847-804E-C6FF-B816C3DF4D2A}"/>
              </a:ext>
            </a:extLst>
          </p:cNvPr>
          <p:cNvSpPr>
            <a:spLocks noGrp="1"/>
          </p:cNvSpPr>
          <p:nvPr>
            <p:ph type="title"/>
          </p:nvPr>
        </p:nvSpPr>
        <p:spPr/>
        <p:txBody>
          <a:bodyPr/>
          <a:lstStyle/>
          <a:p>
            <a:r>
              <a:rPr lang="en-US" b="1" u="sng" dirty="0">
                <a:solidFill>
                  <a:srgbClr val="B01513"/>
                </a:solidFill>
                <a:latin typeface="Times New Roman" panose="02020603050405020304" pitchFamily="18" charset="0"/>
                <a:cs typeface="Times New Roman" panose="02020603050405020304" pitchFamily="18" charset="0"/>
              </a:rPr>
              <a:t>REFERENCE</a:t>
            </a:r>
          </a:p>
        </p:txBody>
      </p:sp>
      <p:sp>
        <p:nvSpPr>
          <p:cNvPr id="3" name="Content Placeholder 2">
            <a:extLst>
              <a:ext uri="{FF2B5EF4-FFF2-40B4-BE49-F238E27FC236}">
                <a16:creationId xmlns:a16="http://schemas.microsoft.com/office/drawing/2014/main" id="{A50449E6-5811-A153-1251-FB8BC5095BD7}"/>
              </a:ext>
            </a:extLst>
          </p:cNvPr>
          <p:cNvSpPr>
            <a:spLocks noGrp="1"/>
          </p:cNvSpPr>
          <p:nvPr>
            <p:ph idx="1"/>
          </p:nvPr>
        </p:nvSpPr>
        <p:spPr/>
        <p:txBody>
          <a:bodyPr>
            <a:normAutofit fontScale="92500" lnSpcReduction="20000"/>
          </a:bodyPr>
          <a:lstStyle/>
          <a:p>
            <a:pPr algn="just"/>
            <a:r>
              <a:rPr lang="en-US" dirty="0"/>
              <a:t>1] K. Sim, V. Gopalkrishnan, A. </a:t>
            </a:r>
            <a:r>
              <a:rPr lang="en-US" dirty="0" err="1"/>
              <a:t>Zimek</a:t>
            </a:r>
            <a:r>
              <a:rPr lang="en-US" dirty="0"/>
              <a:t>, and G. Cong -‘‘A survey on enhanced subspace clustering,’’ Data Mining Knowledge Discovery, vol. 26, no. 2, pp. 332–397, 2019. </a:t>
            </a:r>
          </a:p>
          <a:p>
            <a:pPr algn="just"/>
            <a:r>
              <a:rPr lang="en-US" dirty="0"/>
              <a:t>2] S. </a:t>
            </a:r>
            <a:r>
              <a:rPr lang="en-US" dirty="0" err="1"/>
              <a:t>Mcskimming</a:t>
            </a:r>
            <a:r>
              <a:rPr lang="en-US" dirty="0"/>
              <a:t> -‘‘Trade-based money laundering: Responding to an emerging threat,’’ Deakin Law Rev, vol. 15, no. 1, 2020.</a:t>
            </a:r>
          </a:p>
          <a:p>
            <a:pPr algn="just"/>
            <a:r>
              <a:rPr lang="en-US" dirty="0"/>
              <a:t> 3] </a:t>
            </a:r>
            <a:r>
              <a:rPr lang="en-US" dirty="0" err="1"/>
              <a:t>Nitu</a:t>
            </a:r>
            <a:r>
              <a:rPr lang="en-US" dirty="0"/>
              <a:t> Kumari, S. Kannan and A. </a:t>
            </a:r>
            <a:r>
              <a:rPr lang="en-US" dirty="0" err="1"/>
              <a:t>Muthukumaravel</a:t>
            </a:r>
            <a:r>
              <a:rPr lang="en-US" dirty="0"/>
              <a:t> - “Credit Card Fraud Detection Using Genetic-A Survey” published by </a:t>
            </a:r>
            <a:r>
              <a:rPr lang="en-US" dirty="0" err="1"/>
              <a:t>MiddleEast</a:t>
            </a:r>
            <a:r>
              <a:rPr lang="en-US" dirty="0"/>
              <a:t> Journal of Scientific Research , IDOSI Publications, 2014 </a:t>
            </a:r>
          </a:p>
          <a:p>
            <a:pPr algn="just"/>
            <a:r>
              <a:rPr lang="en-US" dirty="0"/>
              <a:t>4] </a:t>
            </a:r>
            <a:r>
              <a:rPr lang="en-US" dirty="0" err="1"/>
              <a:t>Satvik</a:t>
            </a:r>
            <a:r>
              <a:rPr lang="en-US" dirty="0"/>
              <a:t> Vats, Surya Kant Dubey, Naveen Kumar Pandey - “A Tool for Effective Detection of Fraud in Credit Card System”, published in International Journal of Communication Network Security ISSN: 2231 – 1882, Volume-2 </a:t>
            </a:r>
          </a:p>
          <a:p>
            <a:pPr algn="just"/>
            <a:r>
              <a:rPr lang="en-US" dirty="0"/>
              <a:t>5] S.H. Projects and W. </a:t>
            </a:r>
            <a:r>
              <a:rPr lang="en-US" dirty="0" err="1"/>
              <a:t>Lovo</a:t>
            </a:r>
            <a:r>
              <a:rPr lang="en-US" dirty="0"/>
              <a:t> , ―JMU Scholarly Commons Detecting credit card fraud : An analysis of fraud detection techniques,‖ 2020.</a:t>
            </a:r>
          </a:p>
        </p:txBody>
      </p:sp>
    </p:spTree>
    <p:extLst>
      <p:ext uri="{BB962C8B-B14F-4D97-AF65-F5344CB8AC3E}">
        <p14:creationId xmlns:p14="http://schemas.microsoft.com/office/powerpoint/2010/main" val="34398729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6781DD-192B-B8D0-63A2-5823065C8FA8}"/>
              </a:ext>
            </a:extLst>
          </p:cNvPr>
          <p:cNvSpPr>
            <a:spLocks noGrp="1"/>
          </p:cNvSpPr>
          <p:nvPr>
            <p:ph type="ctrTitle"/>
          </p:nvPr>
        </p:nvSpPr>
        <p:spPr/>
        <p:txBody>
          <a:bodyPr anchor="ctr"/>
          <a:lstStyle/>
          <a:p>
            <a:pPr algn="ctr"/>
            <a:r>
              <a:rPr lang="en-US" b="1" u="sng" dirty="0">
                <a:solidFill>
                  <a:srgbClr val="B01513"/>
                </a:solidFill>
                <a:latin typeface="Times New Roman" panose="02020603050405020304" pitchFamily="18" charset="0"/>
                <a:cs typeface="Times New Roman" panose="02020603050405020304" pitchFamily="18" charset="0"/>
              </a:rPr>
              <a:t>THANK YOU</a:t>
            </a:r>
            <a:endParaRPr lang="en-IN" b="1" u="sng" dirty="0">
              <a:solidFill>
                <a:srgbClr val="B01513"/>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CD8F20B4-772C-1DA4-2FDE-3B778D458027}"/>
              </a:ext>
            </a:extLst>
          </p:cNvPr>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385489310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410</TotalTime>
  <Words>1760</Words>
  <Application>Microsoft Office PowerPoint</Application>
  <PresentationFormat>Widescreen</PresentationFormat>
  <Paragraphs>163</Paragraphs>
  <Slides>24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Century Gothic</vt:lpstr>
      <vt:lpstr>Roboto</vt:lpstr>
      <vt:lpstr>Times New Roman</vt:lpstr>
      <vt:lpstr>Wingdings 3</vt:lpstr>
      <vt:lpstr>Ion</vt:lpstr>
      <vt:lpstr>CREDIT CARD FRAUD DETECTION using MACHINE LEARNING</vt:lpstr>
      <vt:lpstr>ABSTRACT</vt:lpstr>
      <vt:lpstr>ABSTRACT</vt:lpstr>
      <vt:lpstr>PROJECT Introduction</vt:lpstr>
      <vt:lpstr>DOMAIN</vt:lpstr>
      <vt:lpstr>SCOPE OF THE PROJECT</vt:lpstr>
      <vt:lpstr>LITERATURE SURVEY</vt:lpstr>
      <vt:lpstr>EXISTING SYSTEM</vt:lpstr>
      <vt:lpstr>EXISTING SYSTEM DISADVANTAGES</vt:lpstr>
      <vt:lpstr>PROPOSED SYSTEM</vt:lpstr>
      <vt:lpstr>PROPOSED SYSTEM ADVANATAGES</vt:lpstr>
      <vt:lpstr>MODULES</vt:lpstr>
      <vt:lpstr>MODULE I/O</vt:lpstr>
      <vt:lpstr>HARDWARE Requirements</vt:lpstr>
      <vt:lpstr>SOFTWARE Requirements</vt:lpstr>
      <vt:lpstr>ARCHITECTURE Diagram</vt:lpstr>
      <vt:lpstr>ADVANTAGES</vt:lpstr>
      <vt:lpstr>SYSTEM TESTING</vt:lpstr>
      <vt:lpstr>PERFORMANCE TESTING</vt:lpstr>
      <vt:lpstr>UNIT TESTING</vt:lpstr>
      <vt:lpstr>INTEGRATION TESTING</vt:lpstr>
      <vt:lpstr>CONCLUSION</vt:lpstr>
      <vt:lpstr>REFERENCE</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Credit Card Fraud Detection Using Hidden Markov Model</dc:title>
  <dc:creator>shashi teja</dc:creator>
  <cp:lastModifiedBy>Herlan Pio</cp:lastModifiedBy>
  <cp:revision>54</cp:revision>
  <dcterms:created xsi:type="dcterms:W3CDTF">2019-08-15T13:25:49Z</dcterms:created>
  <dcterms:modified xsi:type="dcterms:W3CDTF">2023-07-08T07:50:58Z</dcterms:modified>
</cp:coreProperties>
</file>