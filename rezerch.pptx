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70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7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4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95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32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32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69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7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20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9B49179-2BE5-4256-B736-A17F6201AFB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5CDD0A0-C3ED-41F6-A42D-96FAEAD29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6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9922-EF8F-3203-1551-1DEE806B6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338" y="1331659"/>
            <a:ext cx="9966960" cy="3035808"/>
          </a:xfrm>
        </p:spPr>
        <p:txBody>
          <a:bodyPr>
            <a:normAutofit fontScale="90000"/>
          </a:bodyPr>
          <a:lstStyle/>
          <a:p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/>
            </a:b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78EB4-9048-E4B3-7524-356A9FBE2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" y="4461777"/>
            <a:ext cx="11430000" cy="239622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b="1" dirty="0"/>
              <a:t>SUBMITTED BY :                                                                                                  </a:t>
            </a:r>
          </a:p>
          <a:p>
            <a:pPr algn="l"/>
            <a:r>
              <a:rPr lang="en-IN" b="1" dirty="0"/>
              <a:t>NAME     : CHELLAPPA HERLAN PIO</a:t>
            </a:r>
          </a:p>
          <a:p>
            <a:pPr algn="l"/>
            <a:r>
              <a:rPr lang="en-IN" b="1" dirty="0"/>
              <a:t>DEPT       :  B.SC COMPUTER SCIENCE </a:t>
            </a:r>
          </a:p>
          <a:p>
            <a:pPr algn="l"/>
            <a:r>
              <a:rPr lang="en-IN" b="1" dirty="0"/>
              <a:t>REGNO   :  20UBCS004</a:t>
            </a:r>
          </a:p>
          <a:p>
            <a:pPr algn="l"/>
            <a:r>
              <a:rPr lang="en-IN" b="1" dirty="0"/>
              <a:t>SUB         :  RESEARCH METHODOLOGY</a:t>
            </a:r>
          </a:p>
          <a:p>
            <a:pPr algn="l"/>
            <a:r>
              <a:rPr lang="en-IN" b="1" dirty="0"/>
              <a:t>TOPIC     :   INTRODUCTION TO RESEARCH METHODOLOGY</a:t>
            </a:r>
          </a:p>
          <a:p>
            <a:pPr algn="l"/>
            <a:r>
              <a:rPr lang="en-IN" b="1" dirty="0"/>
              <a:t>DATE       :  09-07-2023</a:t>
            </a:r>
          </a:p>
        </p:txBody>
      </p:sp>
    </p:spTree>
    <p:extLst>
      <p:ext uri="{BB962C8B-B14F-4D97-AF65-F5344CB8AC3E}">
        <p14:creationId xmlns:p14="http://schemas.microsoft.com/office/powerpoint/2010/main" val="2923974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6A3B-2EBA-FDF6-4579-0BE87F77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cs typeface="Times New Roman" panose="02020603050405020304" pitchFamily="18" charset="0"/>
              </a:rPr>
              <a:t>INTRODUCTION TO RESEARCH METHODOLOGY</a:t>
            </a:r>
            <a:endParaRPr lang="en-IN" sz="4000" b="1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17DD9-E7EC-FDCB-6D21-B77ABA066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en-US" sz="4000" b="1" dirty="0">
                <a:solidFill>
                  <a:srgbClr val="002060"/>
                </a:solidFill>
              </a:rPr>
              <a:t>Research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2900" dirty="0">
                <a:latin typeface="Calibri" panose="020F0502020204030204" pitchFamily="34" charset="0"/>
              </a:rPr>
              <a:t>A careful investigation for new facts in any branch of knowledge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sz="2900" dirty="0">
              <a:latin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2900" dirty="0">
                <a:latin typeface="Calibri" panose="020F0502020204030204" pitchFamily="34" charset="0"/>
              </a:rPr>
              <a:t>Redman and </a:t>
            </a:r>
            <a:r>
              <a:rPr lang="en-US" altLang="en-US" sz="2900" dirty="0" err="1">
                <a:latin typeface="Calibri" panose="020F0502020204030204" pitchFamily="34" charset="0"/>
              </a:rPr>
              <a:t>Mory</a:t>
            </a:r>
            <a:r>
              <a:rPr lang="en-US" altLang="en-US" sz="2900" dirty="0">
                <a:latin typeface="Calibri" panose="020F0502020204030204" pitchFamily="34" charset="0"/>
              </a:rPr>
              <a:t>: Research is a systematic effort to gain new knowledge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900" dirty="0"/>
              <a:t>Clifford Woody: Research-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900" dirty="0"/>
              <a:t>defining and redefining problems, formulating hypothesis/objectives;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900" dirty="0"/>
              <a:t>collecting, organizing and evaluating data;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900" dirty="0"/>
              <a:t> making deductions and reaching conclusions;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900" dirty="0"/>
              <a:t>testing the conclusions to determine whether they fit the formulating hypothesis/objectives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en-US" sz="29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alt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11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2905-4C2E-1ECF-B0D0-C68BBB7F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sz="4900" b="1" dirty="0"/>
              <a:t>WHY DO RESEARCH?</a:t>
            </a:r>
            <a:br>
              <a:rPr lang="en-US" sz="4900" b="1" dirty="0">
                <a:solidFill>
                  <a:srgbClr val="00B05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C5F6F-155B-1954-FEE3-7DC6D31BF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74320" eaLnBrk="1" fontAlgn="auto" hangingPunct="1">
              <a:lnSpc>
                <a:spcPct val="16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Desire to get a research degree along with its consequential benefits</a:t>
            </a:r>
          </a:p>
          <a:p>
            <a:pPr indent="-274320" eaLnBrk="1" fontAlgn="auto" hangingPunct="1">
              <a:lnSpc>
                <a:spcPct val="16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Desire to face the challenge in solving the unsolved problems</a:t>
            </a:r>
          </a:p>
          <a:p>
            <a:pPr indent="-274320" eaLnBrk="1" fontAlgn="auto" hangingPunct="1">
              <a:lnSpc>
                <a:spcPct val="16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Desire to get intellectual joy of doing some creative work</a:t>
            </a:r>
          </a:p>
          <a:p>
            <a:pPr indent="-274320" eaLnBrk="1" fontAlgn="auto" hangingPunct="1">
              <a:lnSpc>
                <a:spcPct val="16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Desire to be of service to society</a:t>
            </a:r>
          </a:p>
          <a:p>
            <a:pPr indent="-274320" eaLnBrk="1" fontAlgn="auto" hangingPunct="1">
              <a:lnSpc>
                <a:spcPct val="16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Desire to get respectability</a:t>
            </a:r>
          </a:p>
          <a:p>
            <a:pPr indent="-274320" eaLnBrk="1" fontAlgn="auto" hangingPunct="1">
              <a:lnSpc>
                <a:spcPct val="16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/>
              <a:t>Directives of government, employment conditions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28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4D71F-22A2-CE2C-B884-B3F19325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4394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WHY DO RESEARCH?...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6D620-39C1-AED0-E869-72FC913DF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Validate intuition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Improve methods </a:t>
            </a:r>
          </a:p>
          <a:p>
            <a:pPr marL="69850" indent="0" eaLnBrk="1" hangingPunct="1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Demands of the Job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For publication/patent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8964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5B80-8878-AAA1-7C0E-1D91F96F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CHOOSE A SUBJECT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4027-8683-F4D1-05AA-DBBA36C1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Based on an idea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Based on your experience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Based on your reading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Originality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45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4527A-CBA2-F20F-E848-635037C9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44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4400" b="1" dirty="0">
                <a:solidFill>
                  <a:schemeClr val="tx2">
                    <a:lumMod val="50000"/>
                  </a:schemeClr>
                </a:solidFill>
              </a:rPr>
              <a:t>THE IMPORTANT FEATURES OF A RESEARCH DESIGN </a:t>
            </a:r>
            <a:br>
              <a:rPr lang="en-US" sz="4400" b="1" dirty="0">
                <a:solidFill>
                  <a:schemeClr val="tx2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B7E1A-BD1E-F8F4-D20F-8BFED3368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40080" lvl="1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640080" lvl="1" indent="-274320" eaLnBrk="1" fontAlgn="auto" hangingPunct="1">
              <a:lnSpc>
                <a:spcPct val="10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b="1" dirty="0"/>
              <a:t>A plan</a:t>
            </a:r>
          </a:p>
          <a:p>
            <a:pPr marL="685800" lvl="2" indent="0" eaLnBrk="1" fontAlgn="auto" hangingPunct="1">
              <a:lnSpc>
                <a:spcPct val="10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sz="2800" dirty="0"/>
              <a:t>Specify the sources &amp; types of information relevant to the research problem</a:t>
            </a:r>
          </a:p>
          <a:p>
            <a:pPr marL="640080" lvl="1" indent="-274320" eaLnBrk="1" fontAlgn="auto" hangingPunct="1">
              <a:lnSpc>
                <a:spcPct val="10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b="1" dirty="0"/>
              <a:t>A strategy </a:t>
            </a:r>
          </a:p>
          <a:p>
            <a:pPr marL="685800" lvl="2" indent="0" eaLnBrk="1" fontAlgn="auto" hangingPunct="1">
              <a:lnSpc>
                <a:spcPct val="10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sz="2800" dirty="0"/>
              <a:t>Which approach will be used for gathering and analyzing the data</a:t>
            </a:r>
          </a:p>
          <a:p>
            <a:pPr marL="640080" lvl="1" indent="-274320" eaLnBrk="1" fontAlgn="auto" hangingPunct="1">
              <a:lnSpc>
                <a:spcPct val="10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b="1" dirty="0"/>
              <a:t>The time and budgets</a:t>
            </a:r>
          </a:p>
          <a:p>
            <a:pPr marL="685800" lvl="2" indent="0" eaLnBrk="1" fontAlgn="auto" hangingPunct="1">
              <a:lnSpc>
                <a:spcPct val="10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sz="2800" dirty="0"/>
              <a:t>Most studies are done under these two constraints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60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4251-1D72-6437-EF44-E7BC6E64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altLang="en-US" sz="4400" b="1" dirty="0">
                <a:solidFill>
                  <a:srgbClr val="7030A0"/>
                </a:solidFill>
              </a:rPr>
            </a:br>
            <a:r>
              <a:rPr lang="en-US" altLang="en-US" sz="4400" b="1" dirty="0"/>
              <a:t>CHARACTERISTICS</a:t>
            </a:r>
            <a:r>
              <a:rPr lang="en-US" altLang="en-US" sz="4400" b="1" dirty="0">
                <a:solidFill>
                  <a:srgbClr val="7030A0"/>
                </a:solidFill>
              </a:rPr>
              <a:t> </a:t>
            </a:r>
            <a:r>
              <a:rPr lang="en-US" altLang="en-US" sz="4400" b="1" dirty="0"/>
              <a:t>OF</a:t>
            </a:r>
            <a:r>
              <a:rPr lang="en-US" altLang="en-US" sz="4400" b="1" dirty="0">
                <a:solidFill>
                  <a:srgbClr val="7030A0"/>
                </a:solidFill>
              </a:rPr>
              <a:t> </a:t>
            </a:r>
            <a:r>
              <a:rPr lang="en-US" altLang="en-US" sz="4400" b="1" dirty="0"/>
              <a:t>RESEARCH</a:t>
            </a:r>
            <a:br>
              <a:rPr lang="en-US" altLang="en-US" sz="4400" b="1" dirty="0">
                <a:solidFill>
                  <a:srgbClr val="7030A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7EE8-77FC-4C93-B01B-30BD6E46E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/>
              <a:t>Systematic- All steps must be inter related- one to another</a:t>
            </a:r>
          </a:p>
          <a:p>
            <a:pPr lvl="1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/>
              <a:t>Logical- Agreeing with the principles of logic</a:t>
            </a:r>
          </a:p>
          <a:p>
            <a:pPr lvl="1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/>
              <a:t>Empirical-Conclusions should be based on evidences.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170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8A39-7FA2-B5B4-A9CC-30D06BE4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altLang="en-US" sz="4400" b="1" dirty="0">
                <a:solidFill>
                  <a:srgbClr val="7030A0"/>
                </a:solidFill>
              </a:rPr>
            </a:br>
            <a:r>
              <a:rPr lang="en-US" altLang="en-US" sz="4400" b="1" dirty="0"/>
              <a:t>CHARACTERISTICS OF RESEARCH</a:t>
            </a:r>
            <a:r>
              <a:rPr lang="en-US" altLang="en-US" sz="4400" b="1" dirty="0">
                <a:solidFill>
                  <a:srgbClr val="7030A0"/>
                </a:solidFill>
              </a:rPr>
              <a:t>…</a:t>
            </a:r>
            <a:br>
              <a:rPr lang="en-US" altLang="en-US" b="1" dirty="0">
                <a:solidFill>
                  <a:srgbClr val="7030A0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B9CC1-DD9B-57CA-DCA6-BB1B69922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3000" dirty="0"/>
              <a:t>Objectivity- It must answer the research questions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3000" dirty="0"/>
              <a:t>Replicable- reproducible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3000" dirty="0"/>
              <a:t>Transmittable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800" dirty="0"/>
              <a:t>Quality control- Accurate measurements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sz="2800" dirty="0"/>
              <a:t>All well designed and conducted research has potential application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Char char="Ø"/>
              <a:defRPr/>
            </a:pPr>
            <a:endParaRPr lang="en-US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301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ADDB-4916-95D8-B5D6-E49F4BD9D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DEFINE YOUR OBJECTIVES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9C0D-4618-9AD9-4B73-CF5EDFB47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Try to keep these simple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The more variables the more difficult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Use the opportunity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Get help at this stage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Senior colleagues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Experienced researchers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42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400C-BF97-B2D0-7634-CF2B2CDE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27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LITERATURE SEARCH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AD85-1981-81FF-FE3F-5D232D32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dirty="0"/>
              <a:t>Check to see if your idea is original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Get articles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Read articles and their references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Most of these will be vital when writing up reports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Find gap areas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Find obsolete measurements and results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Define objectives of the study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977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E876-24F5-85C2-FA79-50E15AC4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STEPS INVOLVED IN A RESEARCH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772F-F22A-9FA6-C099-A3B42F75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Choose a subject</a:t>
            </a:r>
          </a:p>
          <a:p>
            <a:r>
              <a:rPr lang="en-US" altLang="en-US" dirty="0"/>
              <a:t>Literature survey</a:t>
            </a:r>
          </a:p>
          <a:p>
            <a:r>
              <a:rPr lang="en-US" altLang="en-US" dirty="0"/>
              <a:t>Defining and formulation of specific objectives</a:t>
            </a:r>
          </a:p>
          <a:p>
            <a:r>
              <a:rPr lang="en-US" altLang="en-US" dirty="0"/>
              <a:t>Prepare synopsis</a:t>
            </a:r>
          </a:p>
          <a:p>
            <a:r>
              <a:rPr lang="en-US" altLang="en-US" dirty="0"/>
              <a:t>Procuring of suitable apparatus/materials</a:t>
            </a:r>
          </a:p>
          <a:p>
            <a:r>
              <a:rPr lang="en-US" altLang="en-US" dirty="0"/>
              <a:t>Design of experimental set up</a:t>
            </a:r>
          </a:p>
          <a:p>
            <a:r>
              <a:rPr lang="en-US" altLang="en-US" dirty="0"/>
              <a:t>Preliminary experiments</a:t>
            </a:r>
          </a:p>
          <a:p>
            <a:r>
              <a:rPr lang="en-US" altLang="en-US" dirty="0"/>
              <a:t>Execution of the project </a:t>
            </a:r>
          </a:p>
          <a:p>
            <a:r>
              <a:rPr lang="en-US" altLang="en-US" dirty="0"/>
              <a:t>Accurate measurements/data collection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82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C041-5CD9-AB0D-AFCF-EDE8C79C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STEPS INVOLVED IN A RESEARCH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582D1-A020-BC1A-44CE-384AEAE5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Data analysis and error compounding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Hypothesis testing and verification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Results and discussion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Generalization, interpretation and drawing conclusions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Preparation of the project report or writing thesis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857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3FB3-B61D-E6AD-2370-583B021E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44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en-US" sz="44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THE PROCESS OF RESEARCH</a:t>
            </a:r>
            <a:br>
              <a:rPr lang="en-US" sz="44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2AAD-0C52-5553-C018-7BA448D36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380648-275A-C0DC-4456-DEDD2C6B15D2}"/>
              </a:ext>
            </a:extLst>
          </p:cNvPr>
          <p:cNvGrpSpPr>
            <a:grpSpLocks/>
          </p:cNvGrpSpPr>
          <p:nvPr/>
        </p:nvGrpSpPr>
        <p:grpSpPr bwMode="auto">
          <a:xfrm>
            <a:off x="2400299" y="2138289"/>
            <a:ext cx="6968783" cy="3840480"/>
            <a:chOff x="663202" y="533400"/>
            <a:chExt cx="7860456" cy="58229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3CF7DC-6F30-0692-1441-01E06A756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202" y="533400"/>
              <a:ext cx="7860456" cy="5822950"/>
            </a:xfrm>
            <a:prstGeom prst="rect">
              <a:avLst/>
            </a:prstGeom>
            <a:solidFill>
              <a:srgbClr val="0096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704876-BCAF-5A59-E9BF-10BC92672016}"/>
                </a:ext>
              </a:extLst>
            </p:cNvPr>
            <p:cNvSpPr txBox="1"/>
            <p:nvPr/>
          </p:nvSpPr>
          <p:spPr>
            <a:xfrm>
              <a:off x="4343400" y="1524000"/>
              <a:ext cx="314510" cy="400110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latin typeface="+mn-lt"/>
                  <a:cs typeface="Arial" charset="0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6777EC-2759-2963-DBCE-61A243553052}"/>
                </a:ext>
              </a:extLst>
            </p:cNvPr>
            <p:cNvSpPr txBox="1"/>
            <p:nvPr/>
          </p:nvSpPr>
          <p:spPr>
            <a:xfrm>
              <a:off x="6934200" y="3124200"/>
              <a:ext cx="314510" cy="400110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latin typeface="+mn-lt"/>
                  <a:cs typeface="Arial" charset="0"/>
                </a:rPr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DD24BB-8B5C-CD4A-27BD-9B120450943C}"/>
                </a:ext>
              </a:extLst>
            </p:cNvPr>
            <p:cNvSpPr txBox="1"/>
            <p:nvPr/>
          </p:nvSpPr>
          <p:spPr>
            <a:xfrm>
              <a:off x="5867400" y="5105400"/>
              <a:ext cx="314510" cy="400110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latin typeface="+mn-lt"/>
                  <a:cs typeface="Arial" charset="0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B8B526-2324-388E-015A-2701771857FB}"/>
                </a:ext>
              </a:extLst>
            </p:cNvPr>
            <p:cNvSpPr txBox="1"/>
            <p:nvPr/>
          </p:nvSpPr>
          <p:spPr>
            <a:xfrm>
              <a:off x="3114490" y="5105400"/>
              <a:ext cx="314510" cy="400110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latin typeface="+mn-lt"/>
                  <a:cs typeface="Arial" charset="0"/>
                </a:rPr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B0B89F-0563-051E-C3EC-CF8F81BA8B7D}"/>
                </a:ext>
              </a:extLst>
            </p:cNvPr>
            <p:cNvSpPr txBox="1"/>
            <p:nvPr/>
          </p:nvSpPr>
          <p:spPr>
            <a:xfrm>
              <a:off x="1447800" y="3276600"/>
              <a:ext cx="314510" cy="400110"/>
            </a:xfrm>
            <a:prstGeom prst="rect">
              <a:avLst/>
            </a:prstGeom>
            <a:solidFill>
              <a:srgbClr val="00823B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  <a:softEdge rad="12700"/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entury Gothic" panose="020B0502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latin typeface="+mn-lt"/>
                  <a:cs typeface="Arial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4500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592C-93FE-4D22-47BF-F35AFFD7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RESEARCH ARTICLE WRITING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00268-C1C3-9E4E-9E2A-EC0E95AB0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/>
              <a:t>Find suitable/specified journals</a:t>
            </a:r>
          </a:p>
          <a:p>
            <a:pPr>
              <a:defRPr/>
            </a:pPr>
            <a:r>
              <a:rPr lang="en-US" sz="2800" dirty="0"/>
              <a:t>Get copy of Instructions to authors</a:t>
            </a:r>
          </a:p>
          <a:p>
            <a:pPr>
              <a:defRPr/>
            </a:pPr>
            <a:r>
              <a:rPr lang="en-US" sz="2800" dirty="0"/>
              <a:t>Prepare article as per instructions</a:t>
            </a:r>
          </a:p>
          <a:p>
            <a:pPr>
              <a:defRPr/>
            </a:pPr>
            <a:r>
              <a:rPr lang="en-US" sz="2800" dirty="0"/>
              <a:t>Select suitable titles</a:t>
            </a:r>
          </a:p>
          <a:p>
            <a:pPr>
              <a:defRPr/>
            </a:pPr>
            <a:r>
              <a:rPr lang="en-US" sz="2800" dirty="0"/>
              <a:t>Authors and affiliations </a:t>
            </a:r>
          </a:p>
          <a:p>
            <a:pPr>
              <a:defRPr/>
            </a:pPr>
            <a:r>
              <a:rPr lang="en-US" sz="2800" dirty="0"/>
              <a:t>Abstract </a:t>
            </a:r>
          </a:p>
          <a:p>
            <a:pPr>
              <a:defRPr/>
            </a:pPr>
            <a:r>
              <a:rPr lang="en-US" sz="2800" dirty="0"/>
              <a:t>Highlights</a:t>
            </a:r>
          </a:p>
          <a:p>
            <a:pPr>
              <a:defRPr/>
            </a:pPr>
            <a:r>
              <a:rPr lang="en-US" sz="2800" dirty="0"/>
              <a:t>Novelty statements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983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9F42-8AED-EB23-F2CE-96AB8D81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en-US" sz="4000" b="1" dirty="0"/>
              <a:t>A RESEARCH REPORT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082E6-D1BB-6D85-3AF1-823EC609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Introduction and Statement of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Review of relevant literature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Statement of hypothesis or research objectives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Theoretical resume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Description of research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Description Experimental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Description of measurement and data 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Error compounding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Presentation of Results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Discussion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Conclusion, limitations, and implications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Suggestions for future 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Acknowledgements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References cited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Appendices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169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0C1A-3927-89E5-D1C6-421F030C6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TYPES OF RESEARCH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6A0A8-3EEE-AD72-75B5-CC3CB07E6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9850" indent="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1.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Application- Pure and Applied Research</a:t>
            </a:r>
          </a:p>
          <a:p>
            <a:pPr marL="69850" indent="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Applied- Finding solutions for immediate problems facing a society/industry</a:t>
            </a:r>
          </a:p>
          <a:p>
            <a:pPr marL="69850" indent="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Pure- Concerned with generalization and formulation of a theory</a:t>
            </a:r>
          </a:p>
          <a:p>
            <a:pPr marL="69850" indent="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2. Inquiry Mode- </a:t>
            </a:r>
            <a:r>
              <a:rPr lang="en-US" altLang="en-US" sz="2800" dirty="0"/>
              <a:t>Quantitative and qualitative</a:t>
            </a:r>
          </a:p>
          <a:p>
            <a:pPr marL="69850" indent="0" eaLnBrk="1" hangingPunct="1">
              <a:buFont typeface="Wingdings 2" panose="05020102010507070707" pitchFamily="18" charset="2"/>
              <a:buNone/>
            </a:pPr>
            <a:r>
              <a:rPr lang="en-US" altLang="en-US" dirty="0" err="1"/>
              <a:t>Quantitatative</a:t>
            </a:r>
            <a:r>
              <a:rPr lang="en-US" altLang="en-US" sz="2800" dirty="0"/>
              <a:t>- Measurements of quantity or amount</a:t>
            </a:r>
          </a:p>
          <a:p>
            <a:pPr marL="69850" indent="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Qualitative</a:t>
            </a:r>
            <a:r>
              <a:rPr lang="en-US" altLang="en-US" sz="2800" dirty="0"/>
              <a:t>- Concerned with qualitative phenomena (reasons for human behavior)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402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238F-C5F3-4251-7EA5-90BBDC822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RESEARCH STUDIES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7D4D-AAB4-EC5F-340A-8394E6EF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i="1" dirty="0"/>
              <a:t>Diagnostic research- </a:t>
            </a:r>
            <a:r>
              <a:rPr lang="en-US" altLang="en-US" dirty="0"/>
              <a:t>To determine the frequency with which something occurs or with which it is associated with something else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i="1" dirty="0"/>
              <a:t>hypothesis-testing research- </a:t>
            </a:r>
            <a:r>
              <a:rPr lang="en-US" altLang="en-US" dirty="0"/>
              <a:t>To test a hypothesis of a causal relationship between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Arial" panose="020B0604020202020204" pitchFamily="34" charset="0"/>
              </a:rPr>
              <a:t>“Science is not belief, but the will to find out.”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430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239A-D1CE-B35C-BB39-DB4B4824A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8A6DF-AFE5-D777-90A8-CE2DC7F92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2800"/>
              <a:t>   Thank</a:t>
            </a:r>
            <a:r>
              <a:rPr lang="en-US" altLang="en-US" sz="12800">
                <a:solidFill>
                  <a:srgbClr val="002060"/>
                </a:solidFill>
              </a:rPr>
              <a:t> </a:t>
            </a:r>
            <a:r>
              <a:rPr lang="en-US" altLang="en-US" sz="12800" dirty="0"/>
              <a:t>you</a:t>
            </a:r>
            <a:endParaRPr lang="en-IN" sz="12800" dirty="0"/>
          </a:p>
        </p:txBody>
      </p:sp>
    </p:spTree>
    <p:extLst>
      <p:ext uri="{BB962C8B-B14F-4D97-AF65-F5344CB8AC3E}">
        <p14:creationId xmlns:p14="http://schemas.microsoft.com/office/powerpoint/2010/main" val="34316275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296</TotalTime>
  <Words>637</Words>
  <Application>Microsoft Office PowerPoint</Application>
  <PresentationFormat>Widescreen</PresentationFormat>
  <Paragraphs>134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Rockwell</vt:lpstr>
      <vt:lpstr>Rockwell Condensed</vt:lpstr>
      <vt:lpstr>Times New Roman</vt:lpstr>
      <vt:lpstr>Wingdings</vt:lpstr>
      <vt:lpstr>Wingdings 2</vt:lpstr>
      <vt:lpstr>Wood Type</vt:lpstr>
      <vt:lpstr>   RESEARCH METHODOLOGY    </vt:lpstr>
      <vt:lpstr>INTRODUCTION TO RESEARCH METHODOLOGY</vt:lpstr>
      <vt:lpstr> WHY DO RESEARCH? </vt:lpstr>
      <vt:lpstr>WHY DO RESEARCH?...</vt:lpstr>
      <vt:lpstr>CHOOSE A SUBJECT</vt:lpstr>
      <vt:lpstr> THE IMPORTANT FEATURES OF A RESEARCH DESIGN  </vt:lpstr>
      <vt:lpstr> CHARACTERISTICS OF RESEARCH </vt:lpstr>
      <vt:lpstr> CHARACTERISTICS OF RESEARCH… </vt:lpstr>
      <vt:lpstr>DEFINE YOUR OBJECTIVES</vt:lpstr>
      <vt:lpstr>LITERATURE SEARCH</vt:lpstr>
      <vt:lpstr>STEPS INVOLVED IN A RESEARCH</vt:lpstr>
      <vt:lpstr>STEPS INVOLVED IN A RESEARCH</vt:lpstr>
      <vt:lpstr> THE PROCESS OF RESEARCH </vt:lpstr>
      <vt:lpstr>RESEARCH ARTICLE WRITING</vt:lpstr>
      <vt:lpstr>A RESEARCH REPORT</vt:lpstr>
      <vt:lpstr>TYPES OF RESEARCH</vt:lpstr>
      <vt:lpstr>RESEARCH STUDIES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RESEARCH METHODOLOGY    </dc:title>
  <dc:creator>Yamuna Saravanan</dc:creator>
  <cp:lastModifiedBy>Herlan Pio</cp:lastModifiedBy>
  <cp:revision>3</cp:revision>
  <dcterms:created xsi:type="dcterms:W3CDTF">2023-07-09T06:01:07Z</dcterms:created>
  <dcterms:modified xsi:type="dcterms:W3CDTF">2023-07-09T14:55:38Z</dcterms:modified>
</cp:coreProperties>
</file>