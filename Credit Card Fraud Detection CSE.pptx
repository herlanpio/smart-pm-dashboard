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3" r:id="rId4"/>
    <p:sldId id="289" r:id="rId5"/>
    <p:sldId id="284" r:id="rId6"/>
    <p:sldId id="285" r:id="rId7"/>
    <p:sldId id="286" r:id="rId8"/>
    <p:sldId id="290" r:id="rId9"/>
    <p:sldId id="278" r:id="rId10"/>
    <p:sldId id="267" r:id="rId11"/>
    <p:sldId id="268" r:id="rId12"/>
    <p:sldId id="29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DF69C6C-C842-467E-967F-7792FAFA36D0}">
          <p14:sldIdLst>
            <p14:sldId id="256"/>
            <p14:sldId id="257"/>
            <p14:sldId id="283"/>
            <p14:sldId id="289"/>
            <p14:sldId id="284"/>
            <p14:sldId id="285"/>
            <p14:sldId id="286"/>
            <p14:sldId id="290"/>
            <p14:sldId id="278"/>
            <p14:sldId id="267"/>
            <p14:sldId id="268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513"/>
    <a:srgbClr val="38716A"/>
    <a:srgbClr val="3A746C"/>
    <a:srgbClr val="65A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5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4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49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5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9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7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3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9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6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04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7712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26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52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0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8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16715BB-A073-40C0-8968-0316330F75B2}" type="datetimeFigureOut">
              <a:rPr lang="en-US" smtClean="0"/>
              <a:t>7/8/2023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5C457-B90E-496B-B881-442479F38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12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9AB7-D39E-429B-8B9F-B26AF937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340285"/>
            <a:ext cx="8825657" cy="22171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B0151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CREDIT CARD FRAUD DETECTION using MACHINE LEARNING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02723-8909-C3D6-1A33-3AB99EBD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7518" y="4777380"/>
            <a:ext cx="4797468" cy="16860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   CHELLAPPA HERLAN PIO r</a:t>
            </a:r>
          </a:p>
          <a:p>
            <a:r>
              <a:rPr lang="en-US" dirty="0"/>
              <a:t>   B.SC COMPUTER SCIENCE</a:t>
            </a:r>
          </a:p>
          <a:p>
            <a:r>
              <a:rPr lang="en-US"/>
              <a:t>     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0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D2DE-2ED7-4879-B19E-1C2A4C157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9602"/>
            <a:ext cx="2948859" cy="6304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D9C4-5116-4AC8-9EDB-90E502B77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Increase in credit card usage for online payments</a:t>
            </a:r>
          </a:p>
          <a:p>
            <a:r>
              <a:rPr lang="en-US" dirty="0"/>
              <a:t>cases of fraud associated with it are also rising.</a:t>
            </a:r>
          </a:p>
          <a:p>
            <a:r>
              <a:rPr lang="en-US" dirty="0"/>
              <a:t>Few steps involving credit card transaction process using a Hidden Markov Model (HMM)</a:t>
            </a:r>
          </a:p>
          <a:p>
            <a:r>
              <a:rPr lang="en-US" dirty="0"/>
              <a:t>how it can be used for the detection of frauds.</a:t>
            </a:r>
          </a:p>
          <a:p>
            <a:r>
              <a:rPr lang="en-US" dirty="0"/>
              <a:t> An HMM is initially trained for a  cardholder. </a:t>
            </a:r>
          </a:p>
          <a:p>
            <a:r>
              <a:rPr lang="en-US" dirty="0"/>
              <a:t>If a credit card transaction is not accepted by the trained HMM. It is considered to be fraudulent.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50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97DE-DEAB-D3A7-2675-A1D7BBBC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24" y="427666"/>
            <a:ext cx="9311532" cy="860516"/>
          </a:xfrm>
        </p:spPr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5EC16-BE56-143C-8EBE-914BA7D75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24" y="1400784"/>
            <a:ext cx="9232730" cy="4847616"/>
          </a:xfrm>
        </p:spPr>
        <p:txBody>
          <a:bodyPr/>
          <a:lstStyle/>
          <a:p>
            <a:r>
              <a:rPr lang="en-US" dirty="0"/>
              <a:t>People can use credit cards for online transactions as it provides an efficient and easy-to-use facility. </a:t>
            </a:r>
          </a:p>
          <a:p>
            <a:r>
              <a:rPr lang="en-US" dirty="0"/>
              <a:t>With the increase in usage of credit cards, the capacity of credit card misuse has also enhanced.</a:t>
            </a:r>
          </a:p>
          <a:p>
            <a:r>
              <a:rPr lang="en-US" dirty="0"/>
              <a:t> Credit card frauds cause significant financial losses for both credit card holders and financial companies.</a:t>
            </a:r>
          </a:p>
          <a:p>
            <a:r>
              <a:rPr lang="en-US" dirty="0"/>
              <a:t> In this Project, the main aim is to detect such frauds, including the accessibility of public data, high-class imbalance data, the changes in fraud nature, and high rates of false alarm.</a:t>
            </a:r>
          </a:p>
          <a:p>
            <a:r>
              <a:rPr lang="en-US" dirty="0"/>
              <a:t>The main focus has been to apply the recent development of Machine Learning algorithms for this purpose. </a:t>
            </a:r>
          </a:p>
          <a:p>
            <a:r>
              <a:rPr lang="en-US" dirty="0"/>
              <a:t>We have created 5 Algorithms to detection the Credit card Fraud and evaluated results Based on that.</a:t>
            </a:r>
          </a:p>
        </p:txBody>
      </p:sp>
    </p:spTree>
    <p:extLst>
      <p:ext uri="{BB962C8B-B14F-4D97-AF65-F5344CB8AC3E}">
        <p14:creationId xmlns:p14="http://schemas.microsoft.com/office/powerpoint/2010/main" val="240755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7ED1-B54F-440E-A0B3-4C042808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D1DF-CF90-28FC-8D98-890B3C51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FF00"/>
                </a:solidFill>
              </a:rPr>
              <a:t>MACHINE LEARNING</a:t>
            </a:r>
          </a:p>
          <a:p>
            <a:pPr algn="just"/>
            <a:r>
              <a:rPr lang="en-US" dirty="0"/>
              <a:t>Machine learning (ML) is a type of artificial intelligence (AI) that allows software applications to become more accurate at predicting outcomes without being explicitly programmed to do so. </a:t>
            </a:r>
          </a:p>
          <a:p>
            <a:pPr algn="just"/>
            <a:r>
              <a:rPr lang="en-US" dirty="0"/>
              <a:t>Machine learning algorithms use historical data as input to predict new output values.</a:t>
            </a:r>
          </a:p>
          <a:p>
            <a:pPr algn="just"/>
            <a:r>
              <a:rPr lang="en-US" dirty="0"/>
              <a:t>Recommendation engines are a common use case for machine learning. </a:t>
            </a:r>
          </a:p>
          <a:p>
            <a:pPr algn="just"/>
            <a:r>
              <a:rPr lang="en-US" dirty="0"/>
              <a:t>Other popular uses include fraud detection, spam filtering, malware threat detection, business process automation (BPA) and Predictive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25144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DDB5-2DF9-01D4-9015-DE8F8E46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9721-A001-AC8F-E9FD-FF3CB3AF5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30" y="1361872"/>
            <a:ext cx="9824936" cy="4886527"/>
          </a:xfrm>
        </p:spPr>
        <p:txBody>
          <a:bodyPr/>
          <a:lstStyle/>
          <a:p>
            <a:pPr algn="just"/>
            <a:r>
              <a:rPr lang="en-US" dirty="0"/>
              <a:t>To detect counterfeit transactions, three machine-learning algorithms were presented and implemented. </a:t>
            </a:r>
          </a:p>
          <a:p>
            <a:pPr algn="just"/>
            <a:r>
              <a:rPr lang="en-US" dirty="0"/>
              <a:t>There are many measures used to evaluate the performance of classifiers or predictors, such as the Gradient Boost Classifier, Vector Machine, Random Forest, and Decision Tree. </a:t>
            </a:r>
          </a:p>
          <a:p>
            <a:pPr algn="just"/>
            <a:r>
              <a:rPr lang="en-US" dirty="0"/>
              <a:t>These metrics are either prevalence dependent or prevalence-independent. </a:t>
            </a:r>
          </a:p>
          <a:p>
            <a:pPr algn="just"/>
            <a:r>
              <a:rPr lang="en-US" dirty="0"/>
              <a:t>Furthermore, these techniques are used in credit card fraud detection mechanisms, and the results of these algorithms have been compared. </a:t>
            </a:r>
          </a:p>
        </p:txBody>
      </p:sp>
    </p:spTree>
    <p:extLst>
      <p:ext uri="{BB962C8B-B14F-4D97-AF65-F5344CB8AC3E}">
        <p14:creationId xmlns:p14="http://schemas.microsoft.com/office/powerpoint/2010/main" val="31397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F37E-B8BD-A6AC-902C-EE37A50B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8A77-D4E0-F741-9888-228C9B05C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36970"/>
            <a:ext cx="9538748" cy="471142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There are lots of issues that make this procedure tough to implement and one of the biggest problems associated with fraud detection is the lack real-world data to perform experiments on. </a:t>
            </a:r>
          </a:p>
          <a:p>
            <a:r>
              <a:rPr lang="en-US" dirty="0"/>
              <a:t>The reason behind this is the sensitive financial data associated with the fraud that has to be kept confidential for the purpose of customer’s privacy.</a:t>
            </a:r>
          </a:p>
          <a:p>
            <a:r>
              <a:rPr lang="en-US" dirty="0"/>
              <a:t>There should be a proper means to handle the noise. Noise is the errors that is present in the data, for example, incorrect dates.</a:t>
            </a:r>
          </a:p>
          <a:p>
            <a:r>
              <a:rPr lang="en-US" dirty="0"/>
              <a:t>This noise in actual data limits the accuracy of generalization that can be achieved, irrespective of how extensive the training set is.</a:t>
            </a:r>
          </a:p>
        </p:txBody>
      </p:sp>
    </p:spTree>
    <p:extLst>
      <p:ext uri="{BB962C8B-B14F-4D97-AF65-F5344CB8AC3E}">
        <p14:creationId xmlns:p14="http://schemas.microsoft.com/office/powerpoint/2010/main" val="194468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0821-51E6-F904-CB63-02AD197B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FDB7-4216-D36A-9AE4-47A1DEBD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245140"/>
            <a:ext cx="9665208" cy="5160142"/>
          </a:xfrm>
        </p:spPr>
        <p:txBody>
          <a:bodyPr/>
          <a:lstStyle/>
          <a:p>
            <a:pPr algn="just"/>
            <a:r>
              <a:rPr lang="en-US" dirty="0"/>
              <a:t>Various modern techniques like artificial neural network </a:t>
            </a:r>
          </a:p>
          <a:p>
            <a:pPr algn="just"/>
            <a:r>
              <a:rPr lang="en-US" dirty="0"/>
              <a:t>Different machine learning algorithms are compared, including Auto Encoder, Local Outlier Factor, K means Clustering.</a:t>
            </a:r>
          </a:p>
          <a:p>
            <a:pPr algn="just"/>
            <a:r>
              <a:rPr lang="en-US" dirty="0"/>
              <a:t>This project uses various algorithm, and Deep neural network, RNN which comprises of techniques for finding optimal solution for the problem and implicitly generating the result of the fraudulent transaction.</a:t>
            </a:r>
          </a:p>
          <a:p>
            <a:pPr algn="just"/>
            <a:r>
              <a:rPr lang="en-US" dirty="0"/>
              <a:t> The main aim is to detect the fraudulent transaction and to develop a method of generating test data.</a:t>
            </a:r>
          </a:p>
          <a:p>
            <a:pPr algn="just"/>
            <a:r>
              <a:rPr lang="en-US" dirty="0"/>
              <a:t> This algorithm is a heuristic approach used to solve high complexity computational problems. </a:t>
            </a:r>
          </a:p>
          <a:p>
            <a:pPr algn="just"/>
            <a:r>
              <a:rPr lang="en-US" dirty="0"/>
              <a:t>The implementation of an efficient fraud detection system is imperative for all credit card issuing companies and their clients to minimize their losses. </a:t>
            </a:r>
          </a:p>
        </p:txBody>
      </p:sp>
    </p:spTree>
    <p:extLst>
      <p:ext uri="{BB962C8B-B14F-4D97-AF65-F5344CB8AC3E}">
        <p14:creationId xmlns:p14="http://schemas.microsoft.com/office/powerpoint/2010/main" val="296464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49A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B6C7-7395-476E-4422-D0213893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ADVANATAGES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0EC7-331A-306E-10B9-9BCD2859F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</a:rPr>
              <a:t>Easy to understand and implement.</a:t>
            </a:r>
            <a:endParaRPr lang="en-US" sz="2000" b="0" i="0" dirty="0">
              <a:effectLst/>
              <a:latin typeface="Robot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</a:rPr>
              <a:t>Efficient use of computational resources.</a:t>
            </a:r>
            <a:endParaRPr lang="en-US" sz="2000" b="0" i="0" dirty="0">
              <a:effectLst/>
              <a:latin typeface="Robot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</a:rPr>
              <a:t>Require low computational power.</a:t>
            </a:r>
            <a:endParaRPr lang="en-US" sz="2000" b="0" i="0" dirty="0">
              <a:effectLst/>
              <a:latin typeface="Robot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</a:rPr>
              <a:t>Provide optimal results.</a:t>
            </a:r>
            <a:endParaRPr lang="en-US" sz="2000" b="0" i="0" dirty="0"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1072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148C-6B1D-4E54-9701-DC4C1AAE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E885E-3788-407A-88CB-E865CD0F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Highly Security from unauthorized use of credit card</a:t>
            </a:r>
          </a:p>
          <a:p>
            <a:r>
              <a:rPr lang="en-US" dirty="0"/>
              <a:t>1. Avoids fraud usage of card through online transactions.</a:t>
            </a:r>
          </a:p>
          <a:p>
            <a:r>
              <a:rPr lang="en-US" dirty="0"/>
              <a:t>2. Detect if card used by others if card lost.</a:t>
            </a:r>
          </a:p>
        </p:txBody>
      </p:sp>
    </p:spTree>
    <p:extLst>
      <p:ext uri="{BB962C8B-B14F-4D97-AF65-F5344CB8AC3E}">
        <p14:creationId xmlns:p14="http://schemas.microsoft.com/office/powerpoint/2010/main" val="379981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9074-171D-4717-9BBC-8C8CA506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dirty="0">
              <a:solidFill>
                <a:srgbClr val="B015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5E82-2A83-470A-B582-FBB31CFEB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GB" dirty="0"/>
              <a:t>SYSTEM		: Pentium IV 2.4 GHz</a:t>
            </a:r>
            <a:endParaRPr lang="en-US" dirty="0"/>
          </a:p>
          <a:p>
            <a:pPr lvl="0"/>
            <a:r>
              <a:rPr lang="en-GB" dirty="0"/>
              <a:t>HARD DISK		: 40 GB</a:t>
            </a:r>
            <a:endParaRPr lang="en-US" dirty="0"/>
          </a:p>
          <a:p>
            <a:pPr lvl="0"/>
            <a:r>
              <a:rPr lang="en-GB" dirty="0"/>
              <a:t>FLOPPY DRIVE	: 1.44 MB</a:t>
            </a:r>
            <a:endParaRPr lang="en-US" dirty="0"/>
          </a:p>
          <a:p>
            <a:pPr lvl="0"/>
            <a:r>
              <a:rPr lang="en-GB" dirty="0"/>
              <a:t>MONITOR		: 15 VGA colour</a:t>
            </a:r>
            <a:endParaRPr lang="en-US" dirty="0"/>
          </a:p>
          <a:p>
            <a:pPr lvl="0"/>
            <a:r>
              <a:rPr lang="en-GB" dirty="0"/>
              <a:t>MOUSE		: Logitech.</a:t>
            </a:r>
            <a:endParaRPr lang="en-US" dirty="0"/>
          </a:p>
          <a:p>
            <a:pPr lvl="0"/>
            <a:r>
              <a:rPr lang="en-GB" dirty="0"/>
              <a:t>RAM		: 256 MB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4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C72D-046E-4096-A085-1759B4B1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dirty="0">
              <a:solidFill>
                <a:srgbClr val="B015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ED75D-5307-43DA-980E-B75048A1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Operating system :-  Windows</a:t>
            </a:r>
          </a:p>
          <a:p>
            <a:pPr lvl="0"/>
            <a:r>
              <a:rPr lang="en-US" dirty="0"/>
              <a:t>Front End  : Anaconda </a:t>
            </a:r>
            <a:r>
              <a:rPr lang="en-US" dirty="0" err="1"/>
              <a:t>iDE</a:t>
            </a:r>
            <a:endParaRPr lang="en-US" dirty="0"/>
          </a:p>
          <a:p>
            <a:pPr lvl="0"/>
            <a:r>
              <a:rPr lang="en-US" dirty="0"/>
              <a:t>Coding Language	: Python</a:t>
            </a:r>
          </a:p>
          <a:p>
            <a:pPr lvl="0"/>
            <a:r>
              <a:rPr lang="en-US" dirty="0"/>
              <a:t>Back-End: -  </a:t>
            </a:r>
            <a:r>
              <a:rPr lang="en-US" dirty="0" err="1"/>
              <a:t>Sql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484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58333E-6 -7.40741E-7 L -4.58333E-6 -0.07222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29167E-6 -4.44444E-6 L 2.29167E-6 -0.07222 " pathEditMode="relative" rAng="0" ptsTypes="AA">
                                      <p:cBhvr>
                                        <p:cTn id="1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16667E-6 -3.7037E-7 L -4.16667E-6 -0.07222 " pathEditMode="relative" rAng="0" ptsTypes="AA">
                                      <p:cBhvr>
                                        <p:cTn id="2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81DD-192B-B8D0-63A2-5823065C8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US" b="1" u="sng" dirty="0">
                <a:solidFill>
                  <a:srgbClr val="B015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u="sng" dirty="0">
              <a:solidFill>
                <a:srgbClr val="B015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F20B4-772C-1DA4-2FDE-3B778D4580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893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336</TotalTime>
  <Words>739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Roboto</vt:lpstr>
      <vt:lpstr>Times New Roman</vt:lpstr>
      <vt:lpstr>Wingdings 3</vt:lpstr>
      <vt:lpstr>Ion</vt:lpstr>
      <vt:lpstr>CREDIT CARD FRAUD DETECTION using MACHINE LEARNING</vt:lpstr>
      <vt:lpstr>ABSTRACT</vt:lpstr>
      <vt:lpstr>ABSTRACT</vt:lpstr>
      <vt:lpstr>DOMAIN</vt:lpstr>
      <vt:lpstr>EXISTING SYSTEM</vt:lpstr>
      <vt:lpstr>EXISTING SYSTEM DISADVANTAGES</vt:lpstr>
      <vt:lpstr>PROPOSED SYSTEM</vt:lpstr>
      <vt:lpstr>PROPOSED SYSTEM ADVANATAGES</vt:lpstr>
      <vt:lpstr>ADVANTAGES</vt:lpstr>
      <vt:lpstr>HARDWARE Requirements</vt:lpstr>
      <vt:lpstr>SOFTWARE Requirements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Hidden Markov Model</dc:title>
  <dc:creator>shashi teja</dc:creator>
  <cp:lastModifiedBy>Herlan Pio</cp:lastModifiedBy>
  <cp:revision>53</cp:revision>
  <dcterms:created xsi:type="dcterms:W3CDTF">2019-08-15T13:25:49Z</dcterms:created>
  <dcterms:modified xsi:type="dcterms:W3CDTF">2023-07-08T06:01:52Z</dcterms:modified>
</cp:coreProperties>
</file>